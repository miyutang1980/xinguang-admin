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Default Extension="jpg" ContentType="image/jpeg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'1.0' encoding='UTF-8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87" r:id="rId42"/>
    <p:sldId id="288" r:id="rId43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g7dARC18ai+RwrNBZuWImCk4AG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E20876-95DE-4AE8-BAA1-F57D970CE4F3}">
  <a:tblStyle styleId="{16E20876-95DE-4AE8-BAA1-F57D970CE4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2" Type="http://schemas.openxmlformats.org/officeDocument/2006/relationships/slide" Target="slides/slide31.xml"/><Relationship Id="rId43" Type="http://schemas.openxmlformats.org/officeDocument/2006/relationships/slide" Target="slides/slide32.xml"/></Relationships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'1.0' encoding='UTF-8'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'1.0' encoding='UTF-8'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'1.0' encoding='UTF-8'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'1.0' encoding='UTF-8'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'1.0' encoding='UTF-8'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'1.0' encoding='UTF-8'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'1.0' encoding='UTF-8'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'1.0' encoding='UTF-8'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'1.0' encoding='UTF-8'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'1.0' encoding='UTF-8'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'1.0' encoding='UTF-8'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'1.0' encoding='UTF-8'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'1.0' encoding='UTF-8'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'1.0' encoding='UTF-8'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'1.0' encoding='UTF-8'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'1.0' encoding='UTF-8'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'1.0' encoding='UTF-8'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'1.0' encoding='UTF-8'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'1.0' encoding='UTF-8'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'1.0' encoding='UTF-8'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'1.0' encoding='UTF-8'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'1.0' encoding='UTF-8'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'1.0' encoding='UTF-8'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'1.0' encoding='UTF-8'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'1.0' encoding='UTF-8'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1" name="Google Shape;84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9" name="Google Shape;86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7" name="Google Shape;89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1" name="Google Shape;91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6" name="Google Shape;92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1" name="Google Shape;9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2" name="Google Shape;99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hyperlink" Target="https://taipingxinguang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'1.0' encoding='UTF-8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'1.0' encoding='UTF-8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'1.0' encoding='UTF-8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'1.0' encoding='UTF-8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'1.0' encoding='UTF-8'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'1.0' encoding='UTF-8'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'1.0' encoding='UTF-8'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'1.0' encoding='UTF-8'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'1.0' encoding='UTF-8'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'1.0' encoding='UTF-8'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'1.0' encoding='UTF-8'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'1.0' encoding='UTF-8'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'1.0' encoding='UTF-8'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'1.0' encoding='UTF-8'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'1.0' encoding='UTF-8'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'1.0' encoding='UTF-8'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'1.0' encoding='UTF-8'?>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'1.0' encoding='UTF-8'?>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'1.0' encoding='UTF-8'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'1.0' encoding='UTF-8'?>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'1.0' encoding='UTF-8'?>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'1.0' encoding='UTF-8'?>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'1.0' encoding='UTF-8'?>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'1.0' encoding='UTF-8'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'1.0' encoding='UTF-8'?>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'1.0' encoding='UTF-8'?>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30.xml.rels><?xml version='1.0' encoding='UTF-8'?>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hyperlink" Target="https://taipingxinguang.org/#register" TargetMode="External"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太平新光分校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200400" y="1508760"/>
            <a:ext cx="2743200" cy="45720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課程說明會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讓孩子的英文，從學校出發，走向世界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0D24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23;p1"/>
          <p:cNvSpPr/>
          <p:nvPr/>
        </p:nvSpPr>
        <p:spPr>
          <a:xfrm>
            <a:off x="822960" y="34290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0F0"/>
              </a:buClr>
              <a:buSzPts val="14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D0E0F0"/>
                </a:solidFill>
                <a:latin typeface="Calibri"/>
                <a:ea typeface="Calibri"/>
                <a:cs typeface="Calibri"/>
                <a:sym typeface="Calibri"/>
              </a:rPr>
              <a:t>地址：台中市太平區新福路880號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937760" y="34290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0F0"/>
              </a:buClr>
              <a:buSzPts val="14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D0E0F0"/>
                </a:solidFill>
                <a:latin typeface="Calibri"/>
                <a:ea typeface="Calibri"/>
                <a:cs typeface="Calibri"/>
                <a:sym typeface="Calibri"/>
              </a:rPr>
              <a:t>電話：04-23960585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22960" y="39776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0F0"/>
              </a:buClr>
              <a:buSzPts val="14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D0E0F0"/>
                </a:solidFill>
                <a:latin typeface="Calibri"/>
                <a:ea typeface="Calibri"/>
                <a:cs typeface="Calibri"/>
                <a:sym typeface="Calibri"/>
              </a:rPr>
              <a:t>LINE：@143qbory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937760" y="39776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0F0"/>
              </a:buClr>
              <a:buSzPts val="1400"/>
              <a:buFont typeface="Calibri"/>
              <a:buNone/>
            </a:pPr>
            <a:endParaRPr lang="en-US" sz="1400" b="0" i="0" u="none" strike="noStrike" cap="none" dirty="0">
              <a:solidFill>
                <a:srgbClr val="D0E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0F0"/>
              </a:buClr>
              <a:buSzPts val="14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D0E0F0"/>
                </a:solidFill>
                <a:latin typeface="Calibri"/>
                <a:ea typeface="Calibri"/>
                <a:cs typeface="Calibri"/>
                <a:sym typeface="Calibri"/>
              </a:rPr>
              <a:t>網站：</a:t>
            </a:r>
            <a:r>
              <a:rPr lang="en-US" sz="1600" b="0" i="0" u="none" strike="noStrike" cap="none" dirty="0" err="1">
                <a:solidFill>
                  <a:srgbClr val="D0E0F0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</a:t>
            </a:r>
            <a:r>
              <a:rPr lang="en-US" sz="1600" b="0" i="0" u="none" strike="noStrike" cap="none" dirty="0">
                <a:solidFill>
                  <a:srgbClr val="D0E0F0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://taipingxinguang.org/</a:t>
            </a:r>
            <a:endParaRPr lang="en-US" sz="1600" b="0" i="0" u="none" strike="noStrike" cap="none" dirty="0">
              <a:solidFill>
                <a:srgbClr val="D0E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0F0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今天的流程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40 分鐘，帶你全面了解我們的課程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65760" y="1170432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117043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97280" y="11887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關於我們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97280" y="1490472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教學理念・五大特色・與一般補習班的差異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772400" y="12801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DF3E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772400" y="12801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5 分鐘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19202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5760" y="19202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97280" y="1938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課程介紹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97280" y="2240280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浸潤班・菁英班・標準班・全民英檢班・級數對照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772400" y="2029968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DF3E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772400" y="202996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10 分鐘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65760" y="2670048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65760" y="2670048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97280" y="2688336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加值服務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97280" y="2990088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安親課輔・托育班・交通車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772400" y="2779776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DF3E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772400" y="277977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5 分鐘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65760" y="3419856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65760" y="3419856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97280" y="343814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費用方案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97280" y="3739896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各班型費用・新生好禮・全民英檢優惠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772400" y="3529584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DF3E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772400" y="352958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8 分鐘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65760" y="4169664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65760" y="4169664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097280" y="418795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下一步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097280" y="44897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報名三步驟・說明會限定優惠・現場 Q&amp;A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772400" y="4279392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DF3E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7772400" y="427939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3 分鐘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我們的教學理念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365760" y="1234440"/>
            <a:ext cx="265176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65760" y="1234440"/>
            <a:ext cx="2651760" cy="109728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02920" y="141732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100% 全外師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14400" y="2212848"/>
            <a:ext cx="1554480" cy="457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02920" y="2331720"/>
            <a:ext cx="23775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endParaRPr lang="en-US" sz="1600" b="0" i="0" u="none" strike="noStrike" cap="none" dirty="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所有課程均由</a:t>
            </a:r>
            <a:endParaRPr lang="en-US" sz="1600" b="0" i="0" u="none" strike="noStrike" cap="none" dirty="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母語外籍師資授</a:t>
            </a:r>
            <a:r>
              <a:rPr lang="en-US" sz="1600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endParaRPr sz="1600" dirty="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課不使用中文翻譯</a:t>
            </a:r>
            <a:r>
              <a:rPr lang="en-US" sz="16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，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從第一天就全英語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00400" y="1234440"/>
            <a:ext cx="265176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200400" y="1234440"/>
            <a:ext cx="2651760" cy="109728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337560" y="141732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全美語環境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749040" y="2212848"/>
            <a:ext cx="1554480" cy="457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337560" y="2331720"/>
            <a:ext cx="23774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endParaRPr lang="en-US" sz="1400" b="0" i="0" u="none" strike="noStrike" cap="none" dirty="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教室就是小美國課間、問答、討論全程英語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035040" y="1234440"/>
            <a:ext cx="265176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035040" y="1234440"/>
            <a:ext cx="2651760" cy="109728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172200" y="141732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美加學制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583680" y="2212848"/>
            <a:ext cx="1554480" cy="45720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172200" y="2331720"/>
            <a:ext cx="23774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endParaRPr lang="en-US" sz="1400" b="0" i="0" u="none" strike="noStrike" cap="none" dirty="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採用美加正規學制課程架構與國際接軌，銜接海外升學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「我們不只教英文，我們創造英語生活。」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3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我們的五大特色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65760" y="1188720"/>
            <a:ext cx="265176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02920" y="13533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502920" y="1353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051560" y="13533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100% 全外師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2920" y="190195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從幼稚園到高年級，全程外師授課，沒有例外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200400" y="1188720"/>
            <a:ext cx="265176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337560" y="13533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337560" y="1353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886200" y="13533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劍橋英檢內建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337560" y="190195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劍橋檢定考試費用含在課程中，不需另外報名花錢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035040" y="1188720"/>
            <a:ext cx="265176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172200" y="13533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172200" y="1353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720840" y="13533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安親課輔一站式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172200" y="190195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英文課＋安親輔導一起解決，家長不用多跑一個地方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65760" y="3108960"/>
            <a:ext cx="265176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02920" y="32735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02920" y="32735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051560" y="327355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 err="1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小班精緻教學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02920" y="382219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控制班級人數，每個孩子都有被看見的機會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200400" y="3108960"/>
            <a:ext cx="265176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337560" y="32735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337560" y="32735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886200" y="327355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明確晉級路徑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337560" y="382219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每個級數目標清楚，家長隨時知道孩子的進度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4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和一般補習班差在哪？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37" name="Google Shape;137;p5"/>
          <p:cNvGraphicFramePr/>
          <p:nvPr/>
        </p:nvGraphicFramePr>
        <p:xfrm>
          <a:off x="365760" y="1143000"/>
          <a:ext cx="8412475" cy="3291875"/>
        </p:xfrm>
        <a:graphic>
          <a:graphicData uri="http://schemas.openxmlformats.org/drawingml/2006/table">
            <a:tbl>
              <a:tblPr>
                <a:noFill/>
                <a:tableStyleId>{16E20876-95DE-4AE8-BAA1-F57D970CE4F3}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項目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太平新光分校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一般補習班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師資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外師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中外師混合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劍橋英檢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課程內建（0 元）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另外報班（$6,000–12,000/年）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安親課輔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客製化全科輔導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寫完功課就好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晉級路徑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明確年級制，清楚可追蹤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模糊，缺乏標準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8" name="Google Shape;138;p5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✓ 選太平新光分校，就是選最划算、最有效率的英文學習方案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5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四大班型總覽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找到最適合孩子的那一個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50" name="Google Shape;150;p6"/>
          <p:cNvGraphicFramePr/>
          <p:nvPr>
            <p:extLst>
              <p:ext uri="{D42A27DB-BD31-4B8C-83A1-F6EECF244321}">
                <p14:modId xmlns:p14="http://schemas.microsoft.com/office/powerpoint/2010/main" val="2600663447"/>
              </p:ext>
            </p:extLst>
          </p:nvPr>
        </p:nvGraphicFramePr>
        <p:xfrm>
          <a:off x="365760" y="1143000"/>
          <a:ext cx="8412475" cy="3474750"/>
        </p:xfrm>
        <a:graphic>
          <a:graphicData uri="http://schemas.openxmlformats.org/drawingml/2006/table">
            <a:tbl>
              <a:tblPr>
                <a:noFill/>
                <a:tableStyleId>{16E20876-95DE-4AE8-BAA1-F57D970CE4F3}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班型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時數/週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晉級速度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最適合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21B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5B21B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浸潤班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小時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年/級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追求母語級、預算充足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菁英班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7.5</a:t>
                      </a:r>
                      <a:r>
                        <a:rPr lang="zh-TW" altLang="en-US" sz="1300" b="1" u="none" strike="noStrike" cap="none" dirty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或</a:t>
                      </a:r>
                      <a:r>
                        <a:rPr lang="en-US" sz="1300" b="1" u="none" strike="noStrike" cap="none" dirty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8 </a:t>
                      </a:r>
                      <a:r>
                        <a:rPr lang="en-US" sz="1300" b="1" u="none" strike="noStrike" cap="none" dirty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小時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 年/級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重視全面發展，最受家長喜愛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全民英檢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每週 4 小時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初級 / 中級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升學加分、打基礎衝檢定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92400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全民英檢衝刺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暑期 4 週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升學前最後衝刺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1" name="Google Shape;151;p6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6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65760" y="457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浸潤班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65760" y="53035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Immersion Class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858000" y="16459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858000" y="164592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zh-TW" alt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科學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課程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65760" y="1170432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57200" y="1261872"/>
            <a:ext cx="1737360" cy="6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" y="1911096"/>
            <a:ext cx="1737360" cy="43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小時/週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423160" y="1170432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514600" y="1261872"/>
            <a:ext cx="1737360" cy="6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1 年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514600" y="1911096"/>
            <a:ext cx="1737360" cy="43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晉升一個級數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480560" y="1170432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572000" y="1261872"/>
            <a:ext cx="1737360" cy="6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GK→G5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572000" y="1911096"/>
            <a:ext cx="1737360" cy="43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完整學習歷程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537960" y="1170432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629400" y="1261872"/>
            <a:ext cx="2057400" cy="6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全外師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629400" y="1911096"/>
            <a:ext cx="2057400" cy="43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65760" y="2542032"/>
            <a:ext cx="8412480" cy="347472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57200" y="254203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Calibri"/>
              <a:buNone/>
            </a:pPr>
            <a:r>
              <a:rPr lang="en-US" sz="1800" b="1" i="0" u="none" strike="noStrike" cap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級數路線圖：GK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 xml:space="preserve"> → G1 → G2 → G3 → </a:t>
            </a:r>
            <a:r>
              <a:rPr lang="zh-TW" alt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進入菁英班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65760" y="2999232"/>
            <a:ext cx="265176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57200" y="303580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G2 完成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57200" y="347472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達到國中英文程度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200400" y="2999232"/>
            <a:ext cx="265176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291840" y="303580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G3 完成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291840" y="347472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可挑戰全民英檢初級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035040" y="2999232"/>
            <a:ext cx="265176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126480" y="303580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G5 完成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126480" y="347472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可挑戰全民英檢中級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適合：希望孩子在全美語環境中自然習得語言，打造母語級流利度的家庭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7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65760" y="457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菁英班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65760" y="53035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Elite Class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675120" y="164592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675120" y="164592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zh-TW" alt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超級入門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365760" y="1170432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57200" y="1261872"/>
            <a:ext cx="2103120" cy="6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7.5</a:t>
            </a:r>
            <a:r>
              <a:rPr lang="zh-TW" altLang="en-US" sz="3600" b="1" i="0" u="none" strike="noStrike" cap="none" dirty="0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lang="zh-TW" altLang="en-US" sz="2800" b="1" i="0" u="none" strike="noStrike" cap="none" dirty="0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 xml:space="preserve">或 </a:t>
            </a:r>
            <a:r>
              <a:rPr lang="en-US" sz="3600" b="1" i="0" u="none" strike="noStrike" cap="none" dirty="0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1911096"/>
            <a:ext cx="2103120" cy="43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小時/週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788920" y="1170432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2880360" y="1261872"/>
            <a:ext cx="2103120" cy="6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1.5 年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2880360" y="1911096"/>
            <a:ext cx="2103120" cy="43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晉升一個級數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120640" y="1170432"/>
            <a:ext cx="3657600" cy="1234440"/>
          </a:xfrm>
          <a:prstGeom prst="roundRect">
            <a:avLst>
              <a:gd name="adj" fmla="val 7407"/>
            </a:avLst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212080" y="1261872"/>
            <a:ext cx="3474720" cy="67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SA → 3C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212080" y="1911096"/>
            <a:ext cx="3474720" cy="43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完整 11 個級數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5760" y="2542032"/>
            <a:ext cx="841248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57200" y="254203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 → SB → 1A → 1B → 1C → 2A → 2B → 2C → 3A → 3B → 3C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65760" y="3017520"/>
            <a:ext cx="411480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365760" y="3017520"/>
            <a:ext cx="109728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94360" y="301752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平衡學業壓力與英文學習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663440" y="3017520"/>
            <a:ext cx="411480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663440" y="3017520"/>
            <a:ext cx="109728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4892040" y="301752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全方位培養聽說讀寫五力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65760" y="3703320"/>
            <a:ext cx="411480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365760" y="3703320"/>
            <a:ext cx="109728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94360" y="370332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劍橋英檢認證課程內建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663440" y="3703320"/>
            <a:ext cx="411480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663440" y="3703320"/>
            <a:ext cx="109728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4892040" y="370332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最多家長選擇的「甜蜜點」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適合：希望孩子全面發展英文能力，又兼顧學校課業的家庭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8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全民英檢班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GEPT Preparation Class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365760" y="1170432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502920" y="117043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入班條件：通過 2C 級數檢測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365760" y="1783080"/>
            <a:ext cx="4160520" cy="265176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365760" y="1783080"/>
            <a:ext cx="416052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457200" y="1783080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全民英檢 初級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48640" y="2395728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每堂課時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965960" y="2395728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 小時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48640" y="2907792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課堂數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965960" y="2907792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32 堂（初試）＋ 32 堂（複試）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48640" y="341985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總時數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965960" y="3419856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128 小時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48640" y="3931920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收費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965960" y="3931920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$350 / 小時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548640" y="4187952"/>
            <a:ext cx="3794760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548640" y="4187952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同報初複試享折扣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709160" y="1783080"/>
            <a:ext cx="4160520" cy="2651760"/>
          </a:xfrm>
          <a:prstGeom prst="rect">
            <a:avLst/>
          </a:prstGeom>
          <a:solidFill>
            <a:srgbClr val="F5F3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4709160" y="1783080"/>
            <a:ext cx="4160520" cy="5029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4800600" y="1783080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全民英檢 中級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892040" y="2395728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每堂課時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6309360" y="2395728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 小時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892040" y="2907792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課堂數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309360" y="2907792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32 堂（初試）＋ 32 堂（複試）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892040" y="341985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總時數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309360" y="3419856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128 小時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892040" y="3931920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收費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309360" y="3931920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$450 / 小時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92040" y="4187952"/>
            <a:ext cx="3794760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4892040" y="4187952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上課時間：一、三 或 二、四 晚上 7:00–9:00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365760" y="4462272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DF3E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早鳥優惠：同報初複試（4月9折 / 5月95折）；單報（4月95折 / 5月原價）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9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級數對照圖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劍橋英檢 × CEFR × 台灣學制對應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320040" y="1170432"/>
            <a:ext cx="1554480" cy="365760"/>
          </a:xfrm>
          <a:prstGeom prst="rect">
            <a:avLst/>
          </a:prstGeom>
          <a:solidFill>
            <a:srgbClr val="1A3A5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320040" y="117043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課程級數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1965960" y="1170432"/>
            <a:ext cx="1280160" cy="365760"/>
          </a:xfrm>
          <a:prstGeom prst="rect">
            <a:avLst/>
          </a:prstGeom>
          <a:solidFill>
            <a:srgbClr val="1A3A5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1965960" y="117043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劍橋英檢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337560" y="1170432"/>
            <a:ext cx="1097280" cy="365760"/>
          </a:xfrm>
          <a:prstGeom prst="rect">
            <a:avLst/>
          </a:prstGeom>
          <a:solidFill>
            <a:srgbClr val="1A3A5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3337560" y="117043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CEFR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526280" y="1170432"/>
            <a:ext cx="1097280" cy="365760"/>
          </a:xfrm>
          <a:prstGeom prst="rect">
            <a:avLst/>
          </a:prstGeom>
          <a:solidFill>
            <a:srgbClr val="1A3A5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4526280" y="117043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浸潤班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5715000" y="1170432"/>
            <a:ext cx="1280160" cy="365760"/>
          </a:xfrm>
          <a:prstGeom prst="rect">
            <a:avLst/>
          </a:prstGeom>
          <a:solidFill>
            <a:srgbClr val="1A3A5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5715000" y="117043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菁英班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7086600" y="1170432"/>
            <a:ext cx="1645920" cy="365760"/>
          </a:xfrm>
          <a:prstGeom prst="rect">
            <a:avLst/>
          </a:prstGeom>
          <a:solidFill>
            <a:srgbClr val="1A3A5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7086600" y="117043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全民英檢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320040" y="1536192"/>
            <a:ext cx="1554480" cy="49377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320040" y="1536192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GK / SA / SB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1965960" y="1536192"/>
            <a:ext cx="1280160" cy="49377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1965960" y="1536192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Starters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337560" y="1536192"/>
            <a:ext cx="1097280" cy="493776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3337560" y="1536192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Pre-A1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526280" y="1536192"/>
            <a:ext cx="1097280" cy="493776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4526280" y="1536192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5715000" y="1536192"/>
            <a:ext cx="1280160" cy="493776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715000" y="1536192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SA-SB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7086600" y="1536192"/>
            <a:ext cx="1645920" cy="493776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7086600" y="1536192"/>
            <a:ext cx="1645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320040" y="2057400"/>
            <a:ext cx="155448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320040" y="2057400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G1 / 1A-1C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1965960" y="2057400"/>
            <a:ext cx="1280160" cy="49377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1965960" y="2057400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Movers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3337560" y="2057400"/>
            <a:ext cx="1097280" cy="493776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3337560" y="2057400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526280" y="2057400"/>
            <a:ext cx="1097280" cy="493776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4526280" y="2057400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5715000" y="2057400"/>
            <a:ext cx="1280160" cy="493776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5715000" y="2057400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1A-1C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7086600" y="2057400"/>
            <a:ext cx="1645920" cy="493776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7086600" y="2057400"/>
            <a:ext cx="1645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320040" y="2578608"/>
            <a:ext cx="1554480" cy="49377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320040" y="2578608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G2 / 2A-2C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1965960" y="2578608"/>
            <a:ext cx="1280160" cy="49377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1965960" y="2578608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Flyers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3337560" y="2578608"/>
            <a:ext cx="1097280" cy="493776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3337560" y="2578608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4526280" y="2578608"/>
            <a:ext cx="1097280" cy="493776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4526280" y="2578608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5715000" y="2578608"/>
            <a:ext cx="1280160" cy="493776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5715000" y="2578608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2A-2C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7086600" y="2578608"/>
            <a:ext cx="1645920" cy="493776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7086600" y="2578608"/>
            <a:ext cx="1645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準備期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320040" y="3099816"/>
            <a:ext cx="155448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320040" y="3099816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G3 / 3A-3C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965960" y="3099816"/>
            <a:ext cx="1280160" cy="49377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1965960" y="3099816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KET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3337560" y="3099816"/>
            <a:ext cx="1097280" cy="493776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3337560" y="3099816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4526280" y="3099816"/>
            <a:ext cx="1097280" cy="493776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4526280" y="3099816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5715000" y="3099816"/>
            <a:ext cx="1280160" cy="493776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5715000" y="3099816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3A-3C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7086600" y="3099816"/>
            <a:ext cx="1645920" cy="493776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7086600" y="3099816"/>
            <a:ext cx="1645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初級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320040" y="3621024"/>
            <a:ext cx="1554480" cy="493776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320040" y="3621024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G4 / 4A-4C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1965960" y="3621024"/>
            <a:ext cx="1280160" cy="49377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1965960" y="3621024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3337560" y="3621024"/>
            <a:ext cx="1097280" cy="493776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3337560" y="3621024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526280" y="3621024"/>
            <a:ext cx="1097280" cy="493776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4526280" y="3621024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5715000" y="3621024"/>
            <a:ext cx="1280160" cy="493776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5715000" y="3621024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4A-4C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7086600" y="3621024"/>
            <a:ext cx="1645920" cy="493776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7086600" y="3621024"/>
            <a:ext cx="1645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中級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320040" y="4142232"/>
            <a:ext cx="155448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320040" y="4142232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G5 / 5A-5C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1965960" y="4142232"/>
            <a:ext cx="1280160" cy="493776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1965960" y="4142232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FCE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3337560" y="4142232"/>
            <a:ext cx="1097280" cy="493776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3337560" y="4142232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4526280" y="4142232"/>
            <a:ext cx="1097280" cy="493776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4526280" y="4142232"/>
            <a:ext cx="10972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5715000" y="4142232"/>
            <a:ext cx="1280160" cy="493776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5715000" y="4142232"/>
            <a:ext cx="12801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5A-5C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7086600" y="4142232"/>
            <a:ext cx="1645920" cy="493776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7086600" y="4142232"/>
            <a:ext cx="1645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中高級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320040" y="4663440"/>
            <a:ext cx="164592" cy="164592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5B21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548640" y="46451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浸潤班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2011680" y="4663440"/>
            <a:ext cx="164592" cy="164592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2240280" y="46451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菁英班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3703320" y="4663440"/>
            <a:ext cx="164592" cy="164592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1665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3931920" y="46451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全民英檢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10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安親課輔班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不只是寫完功課而已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7178040" y="1170432"/>
            <a:ext cx="1600200" cy="2651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7178040" y="137160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$24,000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7178040" y="205740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/學期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7360920" y="2468880"/>
            <a:ext cx="1234440" cy="36576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7178040" y="260604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安親課輔費用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365760" y="1170432"/>
            <a:ext cx="2057400" cy="2651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421" name="Google Shape;421;p12"/>
          <p:cNvSpPr/>
          <p:nvPr/>
        </p:nvSpPr>
        <p:spPr>
          <a:xfrm>
            <a:off x="365760" y="1170432"/>
            <a:ext cx="205740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457200" y="1170432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低年級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457200" y="144475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學習習慣建立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457200" y="1810512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• </a:t>
            </a:r>
            <a:r>
              <a:rPr lang="en-US" sz="12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注音加強，確保基礎扎實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457200" y="2340864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 xml:space="preserve">• </a:t>
            </a:r>
            <a:r>
              <a:rPr lang="en-US" sz="120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建立良好的學習習慣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457200" y="2871216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每日功課確認與追蹤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2560320" y="1170432"/>
            <a:ext cx="2057400" cy="2651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2560320" y="1170432"/>
            <a:ext cx="205740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2651760" y="1170432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中年級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2651760" y="144475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全科深度輔導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2651760" y="1810512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自然科學重點加強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2651760" y="2340864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數學應用題解題技巧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2651760" y="2871216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時間管理與自主學習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754880" y="1170432"/>
            <a:ext cx="2057400" cy="2651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4754880" y="1170432"/>
            <a:ext cx="2057400" cy="5303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2"/>
          <p:cNvSpPr/>
          <p:nvPr/>
        </p:nvSpPr>
        <p:spPr>
          <a:xfrm>
            <a:off x="4846320" y="1170432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高年級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4846320" y="144475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國中銜接準備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846320" y="1810512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國中課程預先銜接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4846320" y="2340864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自主學習能力培養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4846320" y="2871216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弱點分析與補強計畫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365760" y="39319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DF3E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502920" y="3931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亮點：每個孩子都有專屬弱點追蹤表，期中期末進行深入錯題分析——不只是寫完功課就好！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11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托育班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安靜自習，有老師陪伴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365760" y="1170432"/>
            <a:ext cx="5029200" cy="3337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548640" y="128016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托育班提供什麼？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548640" y="178308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安靜、有秩序的自習環境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548640" y="233172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老師在場確保安全與紀律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548640" y="288036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閱讀 / 課外書自由時間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548640" y="342900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基本生活照顧與等候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548640" y="393192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適合：能自主完成功課的孩子，不需要額外輔導，只需要一個安全的等候環境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5577840" y="1170432"/>
            <a:ext cx="3200400" cy="3337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5669280" y="13716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托育班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5943600" y="1965960"/>
            <a:ext cx="2468880" cy="36576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5669280" y="210312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$12,500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5669280" y="29260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/學期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5943600" y="3383280"/>
            <a:ext cx="2468880" cy="36576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3"/>
          <p:cNvSpPr/>
          <p:nvPr/>
        </p:nvSpPr>
        <p:spPr>
          <a:xfrm>
            <a:off x="5669280" y="352044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比安親課輔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省 $11,500/學期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14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安親課輔 vs 托育班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哪一個更適合你的孩子？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79" name="Google Shape;479;p14"/>
          <p:cNvGraphicFramePr/>
          <p:nvPr/>
        </p:nvGraphicFramePr>
        <p:xfrm>
          <a:off x="365760" y="1143000"/>
          <a:ext cx="8412500" cy="3401550"/>
        </p:xfrm>
        <a:graphic>
          <a:graphicData uri="http://schemas.openxmlformats.org/drawingml/2006/table">
            <a:tbl>
              <a:tblPr>
                <a:noFill/>
                <a:tableStyleId>{16E20876-95DE-4AE8-BAA1-F57D970CE4F3}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項目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安親課輔班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托育班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費用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$24,000 / 學期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3A5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$12,500 / 學期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功課輔導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逐題指導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不提供輔導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各科加強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國數自社全科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錯題分析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期中期末深入分析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老師在場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有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0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有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0" name="Google Shape;480;p14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15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交通車接送服務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上下課不用擔心，我們接送到家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365760" y="1170432"/>
            <a:ext cx="841248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548640" y="1371600"/>
            <a:ext cx="3931920" cy="1234440"/>
          </a:xfrm>
          <a:prstGeom prst="rect">
            <a:avLst/>
          </a:prstGeom>
          <a:solidFill>
            <a:srgbClr val="F8F9F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548640" y="1371600"/>
            <a:ext cx="109728" cy="1234440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749808" y="148132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安全接送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749808" y="1901952"/>
            <a:ext cx="36118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專屬交通車，準時接孩子上下學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4754880" y="1371600"/>
            <a:ext cx="3931920" cy="1234440"/>
          </a:xfrm>
          <a:prstGeom prst="rect">
            <a:avLst/>
          </a:prstGeom>
          <a:solidFill>
            <a:srgbClr val="F8F9F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4754880" y="1371600"/>
            <a:ext cx="109728" cy="1234440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4956048" y="148132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路線覆蓋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4956048" y="1901952"/>
            <a:ext cx="36118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太平區主要路線均有規劃，詳細路線請洽詢本校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548640" y="2788920"/>
            <a:ext cx="3931920" cy="1234440"/>
          </a:xfrm>
          <a:prstGeom prst="rect">
            <a:avLst/>
          </a:prstGeom>
          <a:solidFill>
            <a:srgbClr val="F8F9F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548640" y="2788920"/>
            <a:ext cx="109728" cy="1234440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749808" y="289864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家長安心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749808" y="3319272"/>
            <a:ext cx="36118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不用擔心孩子放學後的交通問題，直接送到門口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4754880" y="2788920"/>
            <a:ext cx="3931920" cy="1234440"/>
          </a:xfrm>
          <a:prstGeom prst="rect">
            <a:avLst/>
          </a:prstGeom>
          <a:solidFill>
            <a:srgbClr val="F8F9F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4754880" y="2788920"/>
            <a:ext cx="109728" cy="1234440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4956048" y="2898648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費用詳情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4956048" y="3319272"/>
            <a:ext cx="36118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依路線遠近計費，請現場洽詢工作人員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請向現場工作人員詢問您家附近的接送路線及費用詳情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16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夏令營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讓孩子的暑假充實又有趣！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365760" y="1170432"/>
            <a:ext cx="4206240" cy="210312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365760" y="1170432"/>
            <a:ext cx="420624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502920" y="1170432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七月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1645920" y="1170432"/>
            <a:ext cx="2788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超能科學派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548640" y="187452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科學實驗、STEAM 活動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全英語主題探索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讓好奇心帶領孩子學英文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4800600" y="1170432"/>
            <a:ext cx="4206240" cy="2103120"/>
          </a:xfrm>
          <a:prstGeom prst="rect">
            <a:avLst/>
          </a:prstGeom>
          <a:solidFill>
            <a:srgbClr val="F5F3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4800600" y="1170432"/>
            <a:ext cx="4206240" cy="5943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4937760" y="1170432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八月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6080760" y="1170432"/>
            <a:ext cx="2788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謎案追查隊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4983480" y="187452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推理解謎、角色扮演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全英語劇情式教學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在冒險中自然開口說英文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365760" y="342900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365760" y="342900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全美語沉浸式教學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2514600" y="342900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6"/>
          <p:cNvSpPr/>
          <p:nvPr/>
        </p:nvSpPr>
        <p:spPr>
          <a:xfrm>
            <a:off x="2514600" y="342900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主題活動體驗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4663440" y="342900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6"/>
          <p:cNvSpPr/>
          <p:nvPr/>
        </p:nvSpPr>
        <p:spPr>
          <a:xfrm>
            <a:off x="4663440" y="342900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每日午餐＋點心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6812280" y="342900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6"/>
          <p:cNvSpPr/>
          <p:nvPr/>
        </p:nvSpPr>
        <p:spPr>
          <a:xfrm>
            <a:off x="6812280" y="342900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贈品大禮包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365760" y="4096512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DF3E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6"/>
          <p:cNvSpPr/>
          <p:nvPr/>
        </p:nvSpPr>
        <p:spPr>
          <a:xfrm>
            <a:off x="457200" y="409651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早鳥優惠：滿 20 天享優惠價  |  5月31日前報名適用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17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夏令營費用 &amp; 贈品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365760" y="1170432"/>
            <a:ext cx="46634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7"/>
          <p:cNvSpPr/>
          <p:nvPr/>
        </p:nvSpPr>
        <p:spPr>
          <a:xfrm>
            <a:off x="365760" y="1170432"/>
            <a:ext cx="466344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457200" y="117043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費用說明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365760" y="1627632"/>
            <a:ext cx="4663440" cy="6217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502920" y="1627632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七月 / 八月費率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2834640" y="1627632"/>
            <a:ext cx="20116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每日費率計算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365760" y="2286000"/>
            <a:ext cx="466344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502920" y="2286000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滿 20 天（早鳥）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2834640" y="2286000"/>
            <a:ext cx="20116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享優惠折扣價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365760" y="2944368"/>
            <a:ext cx="4663440" cy="6217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7"/>
          <p:cNvSpPr/>
          <p:nvPr/>
        </p:nvSpPr>
        <p:spPr>
          <a:xfrm>
            <a:off x="502920" y="2944368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早鳥截止日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2834640" y="2944368"/>
            <a:ext cx="20116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5月31日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365760" y="3602736"/>
            <a:ext cx="466344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7"/>
          <p:cNvSpPr/>
          <p:nvPr/>
        </p:nvSpPr>
        <p:spPr>
          <a:xfrm>
            <a:off x="502920" y="3602736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午餐點心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2834640" y="3602736"/>
            <a:ext cx="20116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包含在費用內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457200" y="427939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詳細費用請洽現場工作人員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5212080" y="1170432"/>
            <a:ext cx="3566160" cy="3246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7"/>
          <p:cNvSpPr/>
          <p:nvPr/>
        </p:nvSpPr>
        <p:spPr>
          <a:xfrm>
            <a:off x="5303520" y="1261872"/>
            <a:ext cx="33832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報名即贈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5486400" y="1783080"/>
            <a:ext cx="3017520" cy="36576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7"/>
          <p:cNvSpPr/>
          <p:nvPr/>
        </p:nvSpPr>
        <p:spPr>
          <a:xfrm>
            <a:off x="5349240" y="1938528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24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7"/>
          <p:cNvSpPr/>
          <p:nvPr/>
        </p:nvSpPr>
        <p:spPr>
          <a:xfrm>
            <a:off x="5349240" y="193852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500"/>
              <a:buFont typeface="Calibri"/>
              <a:buNone/>
            </a:pPr>
            <a:r>
              <a:rPr lang="en-US" sz="2800" b="0" i="0" u="none" strike="noStrike" cap="none" dirty="0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T-shirt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5349240" y="2532888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24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7"/>
          <p:cNvSpPr/>
          <p:nvPr/>
        </p:nvSpPr>
        <p:spPr>
          <a:xfrm>
            <a:off x="5349240" y="253288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500"/>
              <a:buFont typeface="Calibri"/>
              <a:buNone/>
            </a:pPr>
            <a:r>
              <a:rPr lang="en-US" sz="2400" b="0" i="0" u="none" strike="noStrike" cap="none" dirty="0" err="1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背包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5349240" y="3127248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24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7"/>
          <p:cNvSpPr/>
          <p:nvPr/>
        </p:nvSpPr>
        <p:spPr>
          <a:xfrm>
            <a:off x="5349240" y="312724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500"/>
              <a:buFont typeface="Calibri"/>
              <a:buNone/>
            </a:pPr>
            <a:r>
              <a:rPr lang="en-US" sz="2400" b="0" i="0" u="none" strike="noStrike" cap="none" dirty="0" err="1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掛飾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5349240" y="3771900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24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7"/>
          <p:cNvSpPr/>
          <p:nvPr/>
        </p:nvSpPr>
        <p:spPr>
          <a:xfrm>
            <a:off x="5349240" y="372160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500"/>
              <a:buFont typeface="Calibri"/>
              <a:buNone/>
            </a:pPr>
            <a:r>
              <a:rPr lang="en-US" sz="2400" b="0" i="0" u="none" strike="noStrike" cap="none" dirty="0" err="1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重力車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5303520" y="4343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制服尺寸：30 / 32 / 34 / S / M / L / XL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18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8"/>
          <p:cNvSpPr/>
          <p:nvPr/>
        </p:nvSpPr>
        <p:spPr>
          <a:xfrm>
            <a:off x="-23187" y="6531"/>
            <a:ext cx="9144000" cy="5148072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502920" y="1371600"/>
            <a:ext cx="64008" cy="2377440"/>
          </a:xfrm>
          <a:prstGeom prst="rect">
            <a:avLst/>
          </a:prstGeom>
          <a:solidFill>
            <a:srgbClr val="E8863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731520" y="1280160"/>
            <a:ext cx="76809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從目標倒推，幫孩子算出最佳路線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731520" y="251460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不是選最貴的班，而是選最適合的路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6524897" y="3528278"/>
            <a:ext cx="822960" cy="822960"/>
          </a:xfrm>
          <a:prstGeom prst="ellipse">
            <a:avLst/>
          </a:prstGeom>
          <a:solidFill>
            <a:srgbClr val="E8863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8"/>
          <p:cNvSpPr/>
          <p:nvPr/>
        </p:nvSpPr>
        <p:spPr>
          <a:xfrm>
            <a:off x="6400800" y="3630168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zh-TW" alt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    </a:t>
            </a:r>
            <a:endParaRPr lang="en-US" altLang="zh-TW" sz="13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目標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4137333" y="3590326"/>
            <a:ext cx="822960" cy="822960"/>
          </a:xfrm>
          <a:prstGeom prst="ellipse">
            <a:avLst/>
          </a:prstGeom>
          <a:solidFill>
            <a:srgbClr val="253D60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8"/>
          <p:cNvSpPr/>
          <p:nvPr/>
        </p:nvSpPr>
        <p:spPr>
          <a:xfrm>
            <a:off x="4114800" y="3630168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lang="en-US" sz="13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lang="en-US" sz="13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路線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1818676" y="3497580"/>
            <a:ext cx="822960" cy="822960"/>
          </a:xfrm>
          <a:prstGeom prst="ellipse">
            <a:avLst/>
          </a:prstGeom>
          <a:solidFill>
            <a:srgbClr val="253D60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8"/>
          <p:cNvSpPr/>
          <p:nvPr/>
        </p:nvSpPr>
        <p:spPr>
          <a:xfrm>
            <a:off x="1828800" y="3630168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endParaRPr lang="en-US" sz="13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現在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5234613" y="3895344"/>
            <a:ext cx="1245380" cy="109728"/>
          </a:xfrm>
          <a:prstGeom prst="rect">
            <a:avLst/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8"/>
          <p:cNvSpPr/>
          <p:nvPr/>
        </p:nvSpPr>
        <p:spPr>
          <a:xfrm rot="-5400000">
            <a:off x="4960293" y="3816314"/>
            <a:ext cx="274320" cy="274320"/>
          </a:xfrm>
          <a:prstGeom prst="triangle">
            <a:avLst>
              <a:gd name="adj" fmla="val 38095"/>
            </a:avLst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8"/>
          <p:cNvSpPr/>
          <p:nvPr/>
        </p:nvSpPr>
        <p:spPr>
          <a:xfrm>
            <a:off x="2922814" y="3895344"/>
            <a:ext cx="1191986" cy="73152"/>
          </a:xfrm>
          <a:prstGeom prst="rect">
            <a:avLst/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8"/>
          <p:cNvSpPr/>
          <p:nvPr/>
        </p:nvSpPr>
        <p:spPr>
          <a:xfrm rot="-5400000">
            <a:off x="2633798" y="3802598"/>
            <a:ext cx="274320" cy="274320"/>
          </a:xfrm>
          <a:prstGeom prst="triangle">
            <a:avLst>
              <a:gd name="adj" fmla="val 58929"/>
            </a:avLst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8"/>
          <p:cNvSpPr/>
          <p:nvPr/>
        </p:nvSpPr>
        <p:spPr>
          <a:xfrm>
            <a:off x="2743200" y="3273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000"/>
              <a:buFont typeface="Calibri"/>
              <a:buNone/>
            </a:pPr>
            <a:r>
              <a:rPr lang="en-US" sz="3200" b="0" i="1" u="none" strike="noStrike" cap="none" dirty="0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 xml:space="preserve">← </a:t>
            </a:r>
            <a:r>
              <a:rPr lang="en-US" sz="3200" b="0" i="1" u="none" strike="noStrike" cap="none" dirty="0" err="1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倒推方向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274320" y="489204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太平新光分校 ｜ 04-23960585 ｜ taipingxinguang.org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8412480" y="48920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 / 32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9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63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9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你的孩子，未來需要什麼英文能力？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320040" y="914400"/>
            <a:ext cx="4069080" cy="1783080"/>
          </a:xfrm>
          <a:prstGeom prst="rect">
            <a:avLst/>
          </a:prstGeom>
          <a:solidFill>
            <a:srgbClr val="2D1A4A"/>
          </a:solidFill>
          <a:ln w="12700" cap="flat" cmpd="sng">
            <a:solidFill>
              <a:srgbClr val="7B6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9"/>
          <p:cNvSpPr/>
          <p:nvPr/>
        </p:nvSpPr>
        <p:spPr>
          <a:xfrm>
            <a:off x="320040" y="914400"/>
            <a:ext cx="4069080" cy="64008"/>
          </a:xfrm>
          <a:prstGeom prst="rect">
            <a:avLst/>
          </a:prstGeom>
          <a:solidFill>
            <a:srgbClr val="7B68EE"/>
          </a:solidFill>
          <a:ln w="12700" cap="flat" cmpd="sng">
            <a:solidFill>
              <a:srgbClr val="7B6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457200" y="1024128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國小畢業前有英文基礎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457200" y="148132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7B68EE"/>
                </a:solidFill>
                <a:latin typeface="Calibri"/>
                <a:ea typeface="Calibri"/>
                <a:cs typeface="Calibri"/>
                <a:sym typeface="Calibri"/>
              </a:rPr>
              <a:t>劍橋 Movers（A1）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9"/>
          <p:cNvSpPr/>
          <p:nvPr/>
        </p:nvSpPr>
        <p:spPr>
          <a:xfrm>
            <a:off x="457200" y="184708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lang="en-US" sz="2400" b="0" i="0" u="none" strike="noStrike" cap="none" dirty="0" err="1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完成</a:t>
            </a:r>
            <a:r>
              <a:rPr lang="en-US" sz="2400" b="0" i="0" u="none" strike="noStrike" cap="none" dirty="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 xml:space="preserve"> G1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9"/>
          <p:cNvSpPr/>
          <p:nvPr/>
        </p:nvSpPr>
        <p:spPr>
          <a:xfrm>
            <a:off x="4526280" y="914400"/>
            <a:ext cx="4069080" cy="1783080"/>
          </a:xfrm>
          <a:prstGeom prst="rect">
            <a:avLst/>
          </a:prstGeom>
          <a:solidFill>
            <a:srgbClr val="0D2B4A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9"/>
          <p:cNvSpPr/>
          <p:nvPr/>
        </p:nvSpPr>
        <p:spPr>
          <a:xfrm>
            <a:off x="4526280" y="914400"/>
            <a:ext cx="4069080" cy="64008"/>
          </a:xfrm>
          <a:prstGeom prst="rect">
            <a:avLst/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9"/>
          <p:cNvSpPr/>
          <p:nvPr/>
        </p:nvSpPr>
        <p:spPr>
          <a:xfrm>
            <a:off x="4663440" y="1024128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國中會考英文精熟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9"/>
          <p:cNvSpPr/>
          <p:nvPr/>
        </p:nvSpPr>
        <p:spPr>
          <a:xfrm>
            <a:off x="4663440" y="148132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CEFR A2–B1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9"/>
          <p:cNvSpPr/>
          <p:nvPr/>
        </p:nvSpPr>
        <p:spPr>
          <a:xfrm>
            <a:off x="4663440" y="184708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lang="en-US" sz="2400" b="0" i="0" u="none" strike="noStrike" cap="none" dirty="0" err="1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完成</a:t>
            </a:r>
            <a:r>
              <a:rPr lang="en-US" sz="2400" b="0" i="0" u="none" strike="noStrike" cap="none" dirty="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 xml:space="preserve"> G2–G3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9"/>
          <p:cNvSpPr/>
          <p:nvPr/>
        </p:nvSpPr>
        <p:spPr>
          <a:xfrm>
            <a:off x="320040" y="2834640"/>
            <a:ext cx="4069080" cy="1783080"/>
          </a:xfrm>
          <a:prstGeom prst="rect">
            <a:avLst/>
          </a:prstGeom>
          <a:solidFill>
            <a:srgbClr val="0A2A1A"/>
          </a:solidFill>
          <a:ln w="12700" cap="flat" cmpd="sng">
            <a:solidFill>
              <a:srgbClr val="2B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9"/>
          <p:cNvSpPr/>
          <p:nvPr/>
        </p:nvSpPr>
        <p:spPr>
          <a:xfrm>
            <a:off x="320040" y="2834640"/>
            <a:ext cx="4069080" cy="64008"/>
          </a:xfrm>
          <a:prstGeom prst="rect">
            <a:avLst/>
          </a:prstGeom>
          <a:solidFill>
            <a:srgbClr val="2B7A4B"/>
          </a:solidFill>
          <a:ln w="12700" cap="flat" cmpd="sng">
            <a:solidFill>
              <a:srgbClr val="2B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9"/>
          <p:cNvSpPr/>
          <p:nvPr/>
        </p:nvSpPr>
        <p:spPr>
          <a:xfrm>
            <a:off x="457200" y="2944368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全民英檢初級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9"/>
          <p:cNvSpPr/>
          <p:nvPr/>
        </p:nvSpPr>
        <p:spPr>
          <a:xfrm>
            <a:off x="457200" y="340156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7A4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B7A4B"/>
                </a:solidFill>
                <a:latin typeface="Calibri"/>
                <a:ea typeface="Calibri"/>
                <a:cs typeface="Calibri"/>
                <a:sym typeface="Calibri"/>
              </a:rPr>
              <a:t>GEPT Elementary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9"/>
          <p:cNvSpPr/>
          <p:nvPr/>
        </p:nvSpPr>
        <p:spPr>
          <a:xfrm>
            <a:off x="457200" y="376732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lang="en-US" sz="2400" b="0" i="0" u="none" strike="noStrike" cap="none" dirty="0" err="1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完成</a:t>
            </a:r>
            <a:r>
              <a:rPr lang="en-US" sz="2400" b="0" i="0" u="none" strike="noStrike" cap="none" dirty="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 xml:space="preserve"> G3（KET）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4526280" y="2834640"/>
            <a:ext cx="4069080" cy="1783080"/>
          </a:xfrm>
          <a:prstGeom prst="rect">
            <a:avLst/>
          </a:prstGeom>
          <a:solidFill>
            <a:srgbClr val="3A2000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9"/>
          <p:cNvSpPr/>
          <p:nvPr/>
        </p:nvSpPr>
        <p:spPr>
          <a:xfrm>
            <a:off x="4526280" y="2834640"/>
            <a:ext cx="4069080" cy="64008"/>
          </a:xfrm>
          <a:prstGeom prst="rect">
            <a:avLst/>
          </a:prstGeom>
          <a:solidFill>
            <a:srgbClr val="E8863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4663440" y="2944368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全民英檢中級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9"/>
          <p:cNvSpPr/>
          <p:nvPr/>
        </p:nvSpPr>
        <p:spPr>
          <a:xfrm>
            <a:off x="4663440" y="340156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GEPT Intermediate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9"/>
          <p:cNvSpPr/>
          <p:nvPr/>
        </p:nvSpPr>
        <p:spPr>
          <a:xfrm>
            <a:off x="4617720" y="397764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lang="en-US" sz="2400" b="0" i="0" u="none" strike="noStrike" cap="none" dirty="0" err="1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完成</a:t>
            </a:r>
            <a:r>
              <a:rPr lang="en-US" sz="2400" b="0" i="0" u="none" strike="noStrike" cap="none" dirty="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 xml:space="preserve"> G4–G5（PET/FCE）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9"/>
          <p:cNvSpPr/>
          <p:nvPr/>
        </p:nvSpPr>
        <p:spPr>
          <a:xfrm>
            <a:off x="320040" y="46177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根據目標，選擇對應班型，從現在倒推開始時間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9"/>
          <p:cNvSpPr/>
          <p:nvPr/>
        </p:nvSpPr>
        <p:spPr>
          <a:xfrm>
            <a:off x="274320" y="489204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太平新光分校 ｜ 04-23960585 ｜ taipingxinguang.org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9"/>
          <p:cNvSpPr/>
          <p:nvPr/>
        </p:nvSpPr>
        <p:spPr>
          <a:xfrm>
            <a:off x="8412480" y="48920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/ 32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63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倒推計算：現在幾歲開始？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320040" y="822960"/>
            <a:ext cx="8503920" cy="475488"/>
          </a:xfrm>
          <a:prstGeom prst="rect">
            <a:avLst/>
          </a:prstGeom>
          <a:solidFill>
            <a:srgbClr val="253D60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0"/>
          <p:cNvSpPr/>
          <p:nvPr/>
        </p:nvSpPr>
        <p:spPr>
          <a:xfrm>
            <a:off x="457200" y="841248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30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情境：國中前通過全民英檢初級</a:t>
            </a:r>
            <a:r>
              <a:rPr lang="en-US" sz="2400" b="1" i="0" u="none" strike="noStrike" cap="none" dirty="0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 xml:space="preserve">（= </a:t>
            </a:r>
            <a:r>
              <a:rPr lang="en-US" sz="2400" b="1" i="0" u="none" strike="noStrike" cap="none" dirty="0" err="1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完成</a:t>
            </a:r>
            <a:r>
              <a:rPr lang="en-US" sz="2400" b="1" i="0" u="none" strike="noStrike" cap="none" dirty="0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 xml:space="preserve"> G3 = KET ≈ B1）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0"/>
          <p:cNvSpPr/>
          <p:nvPr/>
        </p:nvSpPr>
        <p:spPr>
          <a:xfrm>
            <a:off x="320040" y="1426464"/>
            <a:ext cx="8503920" cy="384048"/>
          </a:xfrm>
          <a:prstGeom prst="rect">
            <a:avLst/>
          </a:prstGeom>
          <a:solidFill>
            <a:srgbClr val="253D60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0"/>
          <p:cNvSpPr/>
          <p:nvPr/>
        </p:nvSpPr>
        <p:spPr>
          <a:xfrm>
            <a:off x="393192" y="14447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班型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2313432" y="14447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起點→G3 需要幾年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4507992" y="144475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最晚幾歲開始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6793992" y="1444752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每週投入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320040" y="1810512"/>
            <a:ext cx="8503920" cy="621792"/>
          </a:xfrm>
          <a:prstGeom prst="rect">
            <a:avLst/>
          </a:prstGeom>
          <a:solidFill>
            <a:srgbClr val="1F3356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0"/>
          <p:cNvSpPr/>
          <p:nvPr/>
        </p:nvSpPr>
        <p:spPr>
          <a:xfrm>
            <a:off x="393192" y="2011680"/>
            <a:ext cx="219456" cy="219456"/>
          </a:xfrm>
          <a:prstGeom prst="ellipse">
            <a:avLst/>
          </a:prstGeom>
          <a:solidFill>
            <a:srgbClr val="7B68EE"/>
          </a:solidFill>
          <a:ln w="12700" cap="flat" cmpd="sng">
            <a:solidFill>
              <a:srgbClr val="7B6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0"/>
          <p:cNvSpPr/>
          <p:nvPr/>
        </p:nvSpPr>
        <p:spPr>
          <a:xfrm>
            <a:off x="685800" y="1865376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浸潤班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0"/>
          <p:cNvSpPr/>
          <p:nvPr/>
        </p:nvSpPr>
        <p:spPr>
          <a:xfrm>
            <a:off x="2313432" y="1865376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年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4507992" y="18653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小三（9歲）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6793992" y="1865376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約 10 小時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0"/>
          <p:cNvSpPr/>
          <p:nvPr/>
        </p:nvSpPr>
        <p:spPr>
          <a:xfrm>
            <a:off x="320040" y="2468880"/>
            <a:ext cx="8503920" cy="621792"/>
          </a:xfrm>
          <a:prstGeom prst="rect">
            <a:avLst/>
          </a:prstGeom>
          <a:solidFill>
            <a:srgbClr val="192C48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0"/>
          <p:cNvSpPr/>
          <p:nvPr/>
        </p:nvSpPr>
        <p:spPr>
          <a:xfrm>
            <a:off x="393192" y="2670048"/>
            <a:ext cx="219456" cy="219456"/>
          </a:xfrm>
          <a:prstGeom prst="ellipse">
            <a:avLst/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0"/>
          <p:cNvSpPr/>
          <p:nvPr/>
        </p:nvSpPr>
        <p:spPr>
          <a:xfrm>
            <a:off x="685800" y="2523744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菁英班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0"/>
          <p:cNvSpPr/>
          <p:nvPr/>
        </p:nvSpPr>
        <p:spPr>
          <a:xfrm>
            <a:off x="2313432" y="2523744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4.5 年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4507992" y="2523744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小一（7歲）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0"/>
          <p:cNvSpPr/>
          <p:nvPr/>
        </p:nvSpPr>
        <p:spPr>
          <a:xfrm>
            <a:off x="6793992" y="2523744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約 7.5–8 小時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320040" y="3218687"/>
            <a:ext cx="8503920" cy="475488"/>
          </a:xfrm>
          <a:prstGeom prst="rect">
            <a:avLst/>
          </a:prstGeom>
          <a:solidFill>
            <a:srgbClr val="3A1A00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0"/>
          <p:cNvSpPr/>
          <p:nvPr/>
        </p:nvSpPr>
        <p:spPr>
          <a:xfrm>
            <a:off x="502920" y="3255263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3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 xml:space="preserve">[!] </a:t>
            </a:r>
            <a:r>
              <a:rPr lang="en-US" sz="2800" b="1" i="0" u="none" strike="noStrike" cap="none" dirty="0" err="1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等到小六才補，只剩</a:t>
            </a:r>
            <a:r>
              <a:rPr lang="en-US" sz="2800" b="1" i="0" u="none" strike="noStrike" cap="none" dirty="0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 xml:space="preserve"> 1-2 </a:t>
            </a:r>
            <a:r>
              <a:rPr lang="en-US" sz="2800" b="1" i="0" u="none" strike="noStrike" cap="none" dirty="0" err="1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年，幾乎來不及</a:t>
            </a:r>
            <a:r>
              <a:rPr lang="en-US" sz="2800" b="1" i="0" u="none" strike="noStrike" cap="none" dirty="0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！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274320" y="489204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太平新光分校 ｜ 04-23960585 ｜ taipingxinguang.org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0"/>
          <p:cNvSpPr/>
          <p:nvPr/>
        </p:nvSpPr>
        <p:spPr>
          <a:xfrm>
            <a:off x="8412480" y="48920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 / 32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63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三條路，同一個目的地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1"/>
          <p:cNvSpPr/>
          <p:nvPr/>
        </p:nvSpPr>
        <p:spPr>
          <a:xfrm>
            <a:off x="2286000" y="868680"/>
            <a:ext cx="4572000" cy="3017520"/>
          </a:xfrm>
          <a:prstGeom prst="triangle">
            <a:avLst>
              <a:gd name="adj" fmla="val 50000"/>
            </a:avLst>
          </a:prstGeom>
          <a:solidFill>
            <a:srgbClr val="253D60"/>
          </a:solidFill>
          <a:ln w="12700" cap="flat" cmpd="sng">
            <a:solidFill>
              <a:srgbClr val="3A5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1"/>
          <p:cNvSpPr/>
          <p:nvPr/>
        </p:nvSpPr>
        <p:spPr>
          <a:xfrm>
            <a:off x="4407408" y="749808"/>
            <a:ext cx="329184" cy="329184"/>
          </a:xfrm>
          <a:prstGeom prst="ellipse">
            <a:avLst/>
          </a:prstGeom>
          <a:solidFill>
            <a:srgbClr val="E8863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1"/>
          <p:cNvSpPr/>
          <p:nvPr/>
        </p:nvSpPr>
        <p:spPr>
          <a:xfrm>
            <a:off x="3566160" y="4572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10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英文目標達成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1"/>
          <p:cNvSpPr/>
          <p:nvPr/>
        </p:nvSpPr>
        <p:spPr>
          <a:xfrm>
            <a:off x="1005840" y="2286000"/>
            <a:ext cx="1417320" cy="822960"/>
          </a:xfrm>
          <a:prstGeom prst="rect">
            <a:avLst/>
          </a:prstGeom>
          <a:solidFill>
            <a:srgbClr val="7B68EE"/>
          </a:solidFill>
          <a:ln w="12700" cap="flat" cmpd="sng">
            <a:solidFill>
              <a:srgbClr val="7B6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1"/>
          <p:cNvSpPr/>
          <p:nvPr/>
        </p:nvSpPr>
        <p:spPr>
          <a:xfrm>
            <a:off x="1051560" y="2322576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浸潤班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1"/>
          <p:cNvSpPr/>
          <p:nvPr/>
        </p:nvSpPr>
        <p:spPr>
          <a:xfrm>
            <a:off x="1051560" y="2596896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直升機路線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最快到頂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1"/>
          <p:cNvSpPr/>
          <p:nvPr/>
        </p:nvSpPr>
        <p:spPr>
          <a:xfrm>
            <a:off x="3931920" y="2926080"/>
            <a:ext cx="1417320" cy="822960"/>
          </a:xfrm>
          <a:prstGeom prst="rect">
            <a:avLst/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1"/>
          <p:cNvSpPr/>
          <p:nvPr/>
        </p:nvSpPr>
        <p:spPr>
          <a:xfrm>
            <a:off x="3977640" y="2962656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菁英班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3977640" y="3236976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主幹道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穩健前進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6766560" y="2286000"/>
            <a:ext cx="1417320" cy="822960"/>
          </a:xfrm>
          <a:prstGeom prst="rect">
            <a:avLst/>
          </a:prstGeom>
          <a:solidFill>
            <a:srgbClr val="3CAF6A"/>
          </a:solidFill>
          <a:ln w="12700" cap="flat" cmpd="sng">
            <a:solidFill>
              <a:srgbClr val="3CAF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1"/>
          <p:cNvSpPr/>
          <p:nvPr/>
        </p:nvSpPr>
        <p:spPr>
          <a:xfrm>
            <a:off x="6812280" y="2322576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全民英檢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6812280" y="2596896"/>
            <a:ext cx="13258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步道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慢慢來不怕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1"/>
          <p:cNvSpPr/>
          <p:nvPr/>
        </p:nvSpPr>
        <p:spPr>
          <a:xfrm>
            <a:off x="320040" y="4206240"/>
            <a:ext cx="8503920" cy="566928"/>
          </a:xfrm>
          <a:prstGeom prst="rect">
            <a:avLst/>
          </a:prstGeom>
          <a:solidFill>
            <a:srgbClr val="253D60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21"/>
          <p:cNvSpPr/>
          <p:nvPr/>
        </p:nvSpPr>
        <p:spPr>
          <a:xfrm>
            <a:off x="502920" y="422452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2000" b="0" i="1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「</a:t>
            </a:r>
            <a:r>
              <a:rPr lang="en-US" sz="2000" b="0" i="1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不是哪條路比較好，而是你的孩子現在幾歲、你希望他幾歲到達</a:t>
            </a:r>
            <a:r>
              <a:rPr lang="en-US" sz="2000" b="0" i="1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」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274320" y="489204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太平新光分校 ｜ 04-23960585 ｜ taipingxinguang.org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8412480" y="48920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 / 32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2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63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2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幫你算：您的孩子適合哪條路？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2"/>
          <p:cNvSpPr/>
          <p:nvPr/>
        </p:nvSpPr>
        <p:spPr>
          <a:xfrm>
            <a:off x="320040" y="868680"/>
            <a:ext cx="4434840" cy="914400"/>
          </a:xfrm>
          <a:prstGeom prst="rect">
            <a:avLst/>
          </a:prstGeom>
          <a:solidFill>
            <a:srgbClr val="1F3356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2"/>
          <p:cNvSpPr/>
          <p:nvPr/>
        </p:nvSpPr>
        <p:spPr>
          <a:xfrm>
            <a:off x="320040" y="868680"/>
            <a:ext cx="438912" cy="914400"/>
          </a:xfrm>
          <a:prstGeom prst="rect">
            <a:avLst/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22"/>
          <p:cNvSpPr/>
          <p:nvPr/>
        </p:nvSpPr>
        <p:spPr>
          <a:xfrm>
            <a:off x="320040" y="868680"/>
            <a:ext cx="4389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2"/>
          <p:cNvSpPr/>
          <p:nvPr/>
        </p:nvSpPr>
        <p:spPr>
          <a:xfrm>
            <a:off x="841248" y="9144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孩子現在幾歲？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2"/>
          <p:cNvSpPr/>
          <p:nvPr/>
        </p:nvSpPr>
        <p:spPr>
          <a:xfrm>
            <a:off x="841248" y="130759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 xml:space="preserve">4–5 歲 ／ 6–7 歲 ／ 8–9 歲 ／ 10 </a:t>
            </a:r>
            <a:r>
              <a:rPr lang="en-US" sz="1600" b="0" i="0" u="none" strike="noStrike" cap="none" dirty="0" err="1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歲以上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2"/>
          <p:cNvSpPr/>
          <p:nvPr/>
        </p:nvSpPr>
        <p:spPr>
          <a:xfrm>
            <a:off x="320040" y="1892808"/>
            <a:ext cx="4434840" cy="914400"/>
          </a:xfrm>
          <a:prstGeom prst="rect">
            <a:avLst/>
          </a:prstGeom>
          <a:solidFill>
            <a:srgbClr val="1F3356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22"/>
          <p:cNvSpPr/>
          <p:nvPr/>
        </p:nvSpPr>
        <p:spPr>
          <a:xfrm>
            <a:off x="320040" y="1892808"/>
            <a:ext cx="438912" cy="914400"/>
          </a:xfrm>
          <a:prstGeom prst="rect">
            <a:avLst/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2"/>
          <p:cNvSpPr/>
          <p:nvPr/>
        </p:nvSpPr>
        <p:spPr>
          <a:xfrm>
            <a:off x="320040" y="1892808"/>
            <a:ext cx="4389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2"/>
          <p:cNvSpPr/>
          <p:nvPr/>
        </p:nvSpPr>
        <p:spPr>
          <a:xfrm>
            <a:off x="841248" y="19385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希望國中前達到什麼程度？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2"/>
          <p:cNvSpPr/>
          <p:nvPr/>
        </p:nvSpPr>
        <p:spPr>
          <a:xfrm>
            <a:off x="841248" y="233172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lang="en-US" b="0" i="0" u="none" strike="noStrike" cap="none" dirty="0" err="1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基礎</a:t>
            </a:r>
            <a:r>
              <a:rPr lang="en-US" b="0" i="0" u="none" strike="noStrike" cap="none" dirty="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 xml:space="preserve"> ／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會考精熟</a:t>
            </a:r>
            <a:r>
              <a:rPr lang="en-US" b="0" i="0" u="none" strike="noStrike" cap="none" dirty="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 xml:space="preserve"> ／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英檢初級</a:t>
            </a:r>
            <a:r>
              <a:rPr lang="en-US" b="0" i="0" u="none" strike="noStrike" cap="none" dirty="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 xml:space="preserve"> ／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英檢中級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2"/>
          <p:cNvSpPr/>
          <p:nvPr/>
        </p:nvSpPr>
        <p:spPr>
          <a:xfrm>
            <a:off x="320040" y="2916936"/>
            <a:ext cx="4434840" cy="914400"/>
          </a:xfrm>
          <a:prstGeom prst="rect">
            <a:avLst/>
          </a:prstGeom>
          <a:solidFill>
            <a:srgbClr val="1F3356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22"/>
          <p:cNvSpPr/>
          <p:nvPr/>
        </p:nvSpPr>
        <p:spPr>
          <a:xfrm>
            <a:off x="320040" y="2916936"/>
            <a:ext cx="438912" cy="914400"/>
          </a:xfrm>
          <a:prstGeom prst="rect">
            <a:avLst/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22"/>
          <p:cNvSpPr/>
          <p:nvPr/>
        </p:nvSpPr>
        <p:spPr>
          <a:xfrm>
            <a:off x="320040" y="2916936"/>
            <a:ext cx="4389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2"/>
          <p:cNvSpPr/>
          <p:nvPr/>
        </p:nvSpPr>
        <p:spPr>
          <a:xfrm>
            <a:off x="841248" y="296265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每週能投入幾天？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2"/>
          <p:cNvSpPr/>
          <p:nvPr/>
        </p:nvSpPr>
        <p:spPr>
          <a:xfrm>
            <a:off x="841248" y="335584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lang="en-US" b="0" i="0" u="none" strike="noStrike" cap="none" dirty="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 xml:space="preserve">1–2 天 ／ 3–4 天 ／ </a:t>
            </a:r>
            <a:r>
              <a:rPr lang="en-US" b="0" i="0" u="none" strike="noStrike" cap="none" dirty="0" err="1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每天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2"/>
          <p:cNvSpPr/>
          <p:nvPr/>
        </p:nvSpPr>
        <p:spPr>
          <a:xfrm>
            <a:off x="4983480" y="868680"/>
            <a:ext cx="3840480" cy="2953512"/>
          </a:xfrm>
          <a:prstGeom prst="rect">
            <a:avLst/>
          </a:prstGeom>
          <a:solidFill>
            <a:srgbClr val="1F3356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2"/>
          <p:cNvSpPr/>
          <p:nvPr/>
        </p:nvSpPr>
        <p:spPr>
          <a:xfrm>
            <a:off x="5120640" y="96012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30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根據您的回答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2"/>
          <p:cNvSpPr/>
          <p:nvPr/>
        </p:nvSpPr>
        <p:spPr>
          <a:xfrm>
            <a:off x="6172200" y="1371600"/>
            <a:ext cx="457200" cy="34747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8863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2"/>
          <p:cNvSpPr/>
          <p:nvPr/>
        </p:nvSpPr>
        <p:spPr>
          <a:xfrm>
            <a:off x="5120640" y="1828800"/>
            <a:ext cx="3566160" cy="530352"/>
          </a:xfrm>
          <a:prstGeom prst="rect">
            <a:avLst/>
          </a:prstGeom>
          <a:solidFill>
            <a:srgbClr val="7B68EE"/>
          </a:solidFill>
          <a:ln w="12700" cap="flat" cmpd="sng">
            <a:solidFill>
              <a:srgbClr val="7B68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22"/>
          <p:cNvSpPr/>
          <p:nvPr/>
        </p:nvSpPr>
        <p:spPr>
          <a:xfrm>
            <a:off x="5193792" y="1856232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浸潤班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6172200" y="1856232"/>
            <a:ext cx="244144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孩子較大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 ×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目標高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 ×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每天學習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2"/>
          <p:cNvSpPr/>
          <p:nvPr/>
        </p:nvSpPr>
        <p:spPr>
          <a:xfrm>
            <a:off x="5120640" y="2468880"/>
            <a:ext cx="3566160" cy="530352"/>
          </a:xfrm>
          <a:prstGeom prst="rect">
            <a:avLst/>
          </a:prstGeom>
          <a:solidFill>
            <a:srgbClr val="2196F3"/>
          </a:solidFill>
          <a:ln w="12700" cap="flat" cmpd="sng">
            <a:solidFill>
              <a:srgbClr val="219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2"/>
          <p:cNvSpPr/>
          <p:nvPr/>
        </p:nvSpPr>
        <p:spPr>
          <a:xfrm>
            <a:off x="5193792" y="2496312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菁英班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6172200" y="2496312"/>
            <a:ext cx="244144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中段年齡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 ×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穩健目標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 × 3–4天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2"/>
          <p:cNvSpPr/>
          <p:nvPr/>
        </p:nvSpPr>
        <p:spPr>
          <a:xfrm>
            <a:off x="5120640" y="3108960"/>
            <a:ext cx="3566160" cy="530352"/>
          </a:xfrm>
          <a:prstGeom prst="rect">
            <a:avLst/>
          </a:prstGeom>
          <a:solidFill>
            <a:srgbClr val="3CAF6A"/>
          </a:solidFill>
          <a:ln w="12700" cap="flat" cmpd="sng">
            <a:solidFill>
              <a:srgbClr val="3CAF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22"/>
          <p:cNvSpPr/>
          <p:nvPr/>
        </p:nvSpPr>
        <p:spPr>
          <a:xfrm>
            <a:off x="5193792" y="3136392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檢定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班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2"/>
          <p:cNvSpPr/>
          <p:nvPr/>
        </p:nvSpPr>
        <p:spPr>
          <a:xfrm>
            <a:off x="6172200" y="3136392"/>
            <a:ext cx="244144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zh-TW" alt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累積進入私中及國際學校銜接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2"/>
          <p:cNvSpPr/>
          <p:nvPr/>
        </p:nvSpPr>
        <p:spPr>
          <a:xfrm>
            <a:off x="914400" y="4069080"/>
            <a:ext cx="7315200" cy="548640"/>
          </a:xfrm>
          <a:prstGeom prst="roundRect">
            <a:avLst>
              <a:gd name="adj" fmla="val 20000"/>
            </a:avLst>
          </a:prstGeom>
          <a:solidFill>
            <a:srgbClr val="E8863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2"/>
          <p:cNvSpPr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今天做英語程度檢測，我們幫您精確規劃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914400" y="46451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不用自己猜，讓老師評估孩子的起點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2"/>
          <p:cNvSpPr/>
          <p:nvPr/>
        </p:nvSpPr>
        <p:spPr>
          <a:xfrm>
            <a:off x="274320" y="489204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太平新光分校 ｜ 04-23960585 ｜ taipingxinguang.org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2"/>
          <p:cNvSpPr/>
          <p:nvPr/>
        </p:nvSpPr>
        <p:spPr>
          <a:xfrm>
            <a:off x="8412480" y="48920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/ 32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3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23"/>
          <p:cNvSpPr/>
          <p:nvPr/>
        </p:nvSpPr>
        <p:spPr>
          <a:xfrm>
            <a:off x="274320" y="16459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劍橋 vs 全民英檢｜孩子的進步路徑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3"/>
          <p:cNvSpPr/>
          <p:nvPr/>
        </p:nvSpPr>
        <p:spPr>
          <a:xfrm>
            <a:off x="274320" y="713232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從 5 歲劍橋入門，一路走到大考英文精熟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3"/>
          <p:cNvSpPr/>
          <p:nvPr/>
        </p:nvSpPr>
        <p:spPr>
          <a:xfrm>
            <a:off x="228600" y="1060704"/>
            <a:ext cx="4617720" cy="365760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3"/>
          <p:cNvSpPr/>
          <p:nvPr/>
        </p:nvSpPr>
        <p:spPr>
          <a:xfrm>
            <a:off x="228600" y="1060704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劍橋英檢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1673352" y="1060704"/>
            <a:ext cx="6217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CEFR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2295144" y="1060704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全民英檢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3"/>
          <p:cNvSpPr/>
          <p:nvPr/>
        </p:nvSpPr>
        <p:spPr>
          <a:xfrm>
            <a:off x="3255264" y="1060704"/>
            <a:ext cx="804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對應課程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3"/>
          <p:cNvSpPr/>
          <p:nvPr/>
        </p:nvSpPr>
        <p:spPr>
          <a:xfrm>
            <a:off x="4059936" y="1060704"/>
            <a:ext cx="7863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適合年紀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228600" y="1426464"/>
            <a:ext cx="4617720" cy="475488"/>
          </a:xfrm>
          <a:prstGeom prst="rect">
            <a:avLst/>
          </a:prstGeom>
          <a:solidFill>
            <a:srgbClr val="1E33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3"/>
          <p:cNvSpPr/>
          <p:nvPr/>
        </p:nvSpPr>
        <p:spPr>
          <a:xfrm>
            <a:off x="228600" y="1426464"/>
            <a:ext cx="59436" cy="4754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23"/>
          <p:cNvSpPr/>
          <p:nvPr/>
        </p:nvSpPr>
        <p:spPr>
          <a:xfrm>
            <a:off x="320040" y="1426464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EF3C7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EF3C7"/>
                </a:solidFill>
                <a:latin typeface="Calibri"/>
                <a:ea typeface="Calibri"/>
                <a:cs typeface="Calibri"/>
                <a:sym typeface="Calibri"/>
              </a:rPr>
              <a:t>Pre A1 Starters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1719072" y="1426464"/>
            <a:ext cx="5760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Pre-A1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2340864" y="1426464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3300984" y="1426464"/>
            <a:ext cx="758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4105656" y="1426464"/>
            <a:ext cx="7406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5–7 歲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228600" y="1901952"/>
            <a:ext cx="4617720" cy="475488"/>
          </a:xfrm>
          <a:prstGeom prst="rect">
            <a:avLst/>
          </a:prstGeom>
          <a:solidFill>
            <a:srgbClr val="1C30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23"/>
          <p:cNvSpPr/>
          <p:nvPr/>
        </p:nvSpPr>
        <p:spPr>
          <a:xfrm>
            <a:off x="228600" y="1901952"/>
            <a:ext cx="59436" cy="475488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23"/>
          <p:cNvSpPr/>
          <p:nvPr/>
        </p:nvSpPr>
        <p:spPr>
          <a:xfrm>
            <a:off x="228600" y="1901952"/>
            <a:ext cx="4617720" cy="10973"/>
          </a:xfrm>
          <a:prstGeom prst="rect">
            <a:avLst/>
          </a:prstGeom>
          <a:solidFill>
            <a:srgbClr val="283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23"/>
          <p:cNvSpPr/>
          <p:nvPr/>
        </p:nvSpPr>
        <p:spPr>
          <a:xfrm>
            <a:off x="320040" y="1901952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ED7A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A1 Movers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3"/>
          <p:cNvSpPr/>
          <p:nvPr/>
        </p:nvSpPr>
        <p:spPr>
          <a:xfrm>
            <a:off x="1719072" y="1901952"/>
            <a:ext cx="5760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2340864" y="1901952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3"/>
          <p:cNvSpPr/>
          <p:nvPr/>
        </p:nvSpPr>
        <p:spPr>
          <a:xfrm>
            <a:off x="3300984" y="1901952"/>
            <a:ext cx="758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3"/>
          <p:cNvSpPr/>
          <p:nvPr/>
        </p:nvSpPr>
        <p:spPr>
          <a:xfrm>
            <a:off x="4105656" y="1901952"/>
            <a:ext cx="7406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7–9 歲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3"/>
          <p:cNvSpPr/>
          <p:nvPr/>
        </p:nvSpPr>
        <p:spPr>
          <a:xfrm>
            <a:off x="228600" y="2377440"/>
            <a:ext cx="4617720" cy="475488"/>
          </a:xfrm>
          <a:prstGeom prst="rect">
            <a:avLst/>
          </a:prstGeom>
          <a:solidFill>
            <a:srgbClr val="1A2D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23"/>
          <p:cNvSpPr/>
          <p:nvPr/>
        </p:nvSpPr>
        <p:spPr>
          <a:xfrm>
            <a:off x="228600" y="2377440"/>
            <a:ext cx="59436" cy="475488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23"/>
          <p:cNvSpPr/>
          <p:nvPr/>
        </p:nvSpPr>
        <p:spPr>
          <a:xfrm>
            <a:off x="228600" y="2377440"/>
            <a:ext cx="4617720" cy="10973"/>
          </a:xfrm>
          <a:prstGeom prst="rect">
            <a:avLst/>
          </a:prstGeom>
          <a:solidFill>
            <a:srgbClr val="283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23"/>
          <p:cNvSpPr/>
          <p:nvPr/>
        </p:nvSpPr>
        <p:spPr>
          <a:xfrm>
            <a:off x="320040" y="2377440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BA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DBA74"/>
                </a:solidFill>
                <a:latin typeface="Calibri"/>
                <a:ea typeface="Calibri"/>
                <a:cs typeface="Calibri"/>
                <a:sym typeface="Calibri"/>
              </a:rPr>
              <a:t>A2 Flyers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3"/>
          <p:cNvSpPr/>
          <p:nvPr/>
        </p:nvSpPr>
        <p:spPr>
          <a:xfrm>
            <a:off x="1719072" y="2377440"/>
            <a:ext cx="5760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2340864" y="2377440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（接近初級）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3300984" y="2377440"/>
            <a:ext cx="758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3"/>
          <p:cNvSpPr/>
          <p:nvPr/>
        </p:nvSpPr>
        <p:spPr>
          <a:xfrm>
            <a:off x="4105656" y="2377440"/>
            <a:ext cx="7406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8–11 歲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3"/>
          <p:cNvSpPr/>
          <p:nvPr/>
        </p:nvSpPr>
        <p:spPr>
          <a:xfrm>
            <a:off x="228600" y="2852928"/>
            <a:ext cx="4617720" cy="475488"/>
          </a:xfrm>
          <a:prstGeom prst="rect">
            <a:avLst/>
          </a:prstGeom>
          <a:solidFill>
            <a:srgbClr val="1829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23"/>
          <p:cNvSpPr/>
          <p:nvPr/>
        </p:nvSpPr>
        <p:spPr>
          <a:xfrm>
            <a:off x="228600" y="2852928"/>
            <a:ext cx="59436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23"/>
          <p:cNvSpPr/>
          <p:nvPr/>
        </p:nvSpPr>
        <p:spPr>
          <a:xfrm>
            <a:off x="228600" y="2852928"/>
            <a:ext cx="4617720" cy="10973"/>
          </a:xfrm>
          <a:prstGeom prst="rect">
            <a:avLst/>
          </a:prstGeom>
          <a:solidFill>
            <a:srgbClr val="283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23"/>
          <p:cNvSpPr/>
          <p:nvPr/>
        </p:nvSpPr>
        <p:spPr>
          <a:xfrm>
            <a:off x="320040" y="2852928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A2 Key (KET)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1719072" y="2852928"/>
            <a:ext cx="5760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2340864" y="2852928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初級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3"/>
          <p:cNvSpPr/>
          <p:nvPr/>
        </p:nvSpPr>
        <p:spPr>
          <a:xfrm>
            <a:off x="3300984" y="2852928"/>
            <a:ext cx="758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3"/>
          <p:cNvSpPr/>
          <p:nvPr/>
        </p:nvSpPr>
        <p:spPr>
          <a:xfrm>
            <a:off x="4105656" y="2852928"/>
            <a:ext cx="7406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9–12 歲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3"/>
          <p:cNvSpPr/>
          <p:nvPr/>
        </p:nvSpPr>
        <p:spPr>
          <a:xfrm>
            <a:off x="228600" y="3328416"/>
            <a:ext cx="4617720" cy="475488"/>
          </a:xfrm>
          <a:prstGeom prst="rect">
            <a:avLst/>
          </a:prstGeom>
          <a:solidFill>
            <a:srgbClr val="1626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3"/>
          <p:cNvSpPr/>
          <p:nvPr/>
        </p:nvSpPr>
        <p:spPr>
          <a:xfrm>
            <a:off x="228600" y="3328416"/>
            <a:ext cx="59436" cy="47548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3"/>
          <p:cNvSpPr/>
          <p:nvPr/>
        </p:nvSpPr>
        <p:spPr>
          <a:xfrm>
            <a:off x="228600" y="3328416"/>
            <a:ext cx="4617720" cy="10973"/>
          </a:xfrm>
          <a:prstGeom prst="rect">
            <a:avLst/>
          </a:prstGeom>
          <a:solidFill>
            <a:srgbClr val="283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3"/>
          <p:cNvSpPr/>
          <p:nvPr/>
        </p:nvSpPr>
        <p:spPr>
          <a:xfrm>
            <a:off x="320040" y="3328416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B1 Preliminary (PET)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3"/>
          <p:cNvSpPr/>
          <p:nvPr/>
        </p:nvSpPr>
        <p:spPr>
          <a:xfrm>
            <a:off x="1719072" y="3328416"/>
            <a:ext cx="5760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2340864" y="3328416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中級（接近）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3300984" y="3328416"/>
            <a:ext cx="758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G4–G5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3"/>
          <p:cNvSpPr/>
          <p:nvPr/>
        </p:nvSpPr>
        <p:spPr>
          <a:xfrm>
            <a:off x="4105656" y="3328416"/>
            <a:ext cx="7406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11–14 歲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3"/>
          <p:cNvSpPr/>
          <p:nvPr/>
        </p:nvSpPr>
        <p:spPr>
          <a:xfrm>
            <a:off x="228600" y="3803904"/>
            <a:ext cx="4617720" cy="475488"/>
          </a:xfrm>
          <a:prstGeom prst="rect">
            <a:avLst/>
          </a:prstGeom>
          <a:solidFill>
            <a:srgbClr val="142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23"/>
          <p:cNvSpPr/>
          <p:nvPr/>
        </p:nvSpPr>
        <p:spPr>
          <a:xfrm>
            <a:off x="228600" y="3803904"/>
            <a:ext cx="59436" cy="4754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23"/>
          <p:cNvSpPr/>
          <p:nvPr/>
        </p:nvSpPr>
        <p:spPr>
          <a:xfrm>
            <a:off x="228600" y="3803904"/>
            <a:ext cx="4617720" cy="10973"/>
          </a:xfrm>
          <a:prstGeom prst="rect">
            <a:avLst/>
          </a:prstGeom>
          <a:solidFill>
            <a:srgbClr val="283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23"/>
          <p:cNvSpPr/>
          <p:nvPr/>
        </p:nvSpPr>
        <p:spPr>
          <a:xfrm>
            <a:off x="320040" y="3803904"/>
            <a:ext cx="13533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B2 First (FCE)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3"/>
          <p:cNvSpPr/>
          <p:nvPr/>
        </p:nvSpPr>
        <p:spPr>
          <a:xfrm>
            <a:off x="1719072" y="3803904"/>
            <a:ext cx="5760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3"/>
          <p:cNvSpPr/>
          <p:nvPr/>
        </p:nvSpPr>
        <p:spPr>
          <a:xfrm>
            <a:off x="2340864" y="3803904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中高級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3"/>
          <p:cNvSpPr/>
          <p:nvPr/>
        </p:nvSpPr>
        <p:spPr>
          <a:xfrm>
            <a:off x="3300984" y="3803904"/>
            <a:ext cx="758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3"/>
          <p:cNvSpPr/>
          <p:nvPr/>
        </p:nvSpPr>
        <p:spPr>
          <a:xfrm>
            <a:off x="4105656" y="3803904"/>
            <a:ext cx="7406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13+ 歲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3"/>
          <p:cNvSpPr/>
          <p:nvPr/>
        </p:nvSpPr>
        <p:spPr>
          <a:xfrm>
            <a:off x="5166360" y="1060704"/>
            <a:ext cx="3749040" cy="3218688"/>
          </a:xfrm>
          <a:prstGeom prst="rect">
            <a:avLst/>
          </a:prstGeom>
          <a:solidFill>
            <a:srgbClr val="152240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23"/>
          <p:cNvSpPr/>
          <p:nvPr/>
        </p:nvSpPr>
        <p:spPr>
          <a:xfrm>
            <a:off x="5166360" y="1060704"/>
            <a:ext cx="3749040" cy="91440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23"/>
          <p:cNvSpPr/>
          <p:nvPr/>
        </p:nvSpPr>
        <p:spPr>
          <a:xfrm>
            <a:off x="5321808" y="1243584"/>
            <a:ext cx="146304" cy="146304"/>
          </a:xfrm>
          <a:prstGeom prst="ellipse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3"/>
          <p:cNvSpPr/>
          <p:nvPr/>
        </p:nvSpPr>
        <p:spPr>
          <a:xfrm>
            <a:off x="5532120" y="1152144"/>
            <a:ext cx="3246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小提醒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3"/>
          <p:cNvSpPr/>
          <p:nvPr/>
        </p:nvSpPr>
        <p:spPr>
          <a:xfrm>
            <a:off x="5303520" y="1572768"/>
            <a:ext cx="3474720" cy="10973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23"/>
          <p:cNvSpPr/>
          <p:nvPr/>
        </p:nvSpPr>
        <p:spPr>
          <a:xfrm>
            <a:off x="5321808" y="2002536"/>
            <a:ext cx="91440" cy="91440"/>
          </a:xfrm>
          <a:prstGeom prst="ellipse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23"/>
          <p:cNvSpPr/>
          <p:nvPr/>
        </p:nvSpPr>
        <p:spPr>
          <a:xfrm>
            <a:off x="5468112" y="1645920"/>
            <a:ext cx="331012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劍橋英檢：全球認可，無期限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3"/>
          <p:cNvSpPr/>
          <p:nvPr/>
        </p:nvSpPr>
        <p:spPr>
          <a:xfrm>
            <a:off x="5321808" y="2843784"/>
            <a:ext cx="91440" cy="91440"/>
          </a:xfrm>
          <a:prstGeom prst="ellipse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23"/>
          <p:cNvSpPr/>
          <p:nvPr/>
        </p:nvSpPr>
        <p:spPr>
          <a:xfrm>
            <a:off x="5468112" y="2487168"/>
            <a:ext cx="331012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全民英檢：台灣升學加分，有效期 2 年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3"/>
          <p:cNvSpPr/>
          <p:nvPr/>
        </p:nvSpPr>
        <p:spPr>
          <a:xfrm>
            <a:off x="5321808" y="3685032"/>
            <a:ext cx="91440" cy="91440"/>
          </a:xfrm>
          <a:prstGeom prst="ellipse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23"/>
          <p:cNvSpPr/>
          <p:nvPr/>
        </p:nvSpPr>
        <p:spPr>
          <a:xfrm>
            <a:off x="5468112" y="3328416"/>
            <a:ext cx="331012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508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從 G3 開始，兩個證照都可以考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3"/>
          <p:cNvSpPr/>
          <p:nvPr/>
        </p:nvSpPr>
        <p:spPr>
          <a:xfrm>
            <a:off x="182880" y="4828032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太平新光分校 ｜ 04-23960585 ｜ taipingxinguang.org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3"/>
          <p:cNvSpPr/>
          <p:nvPr/>
        </p:nvSpPr>
        <p:spPr>
          <a:xfrm>
            <a:off x="6583680" y="482803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/ 32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24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課程費用總覽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純英文課費用（不含安親/托育）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4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24"/>
          <p:cNvSpPr/>
          <p:nvPr/>
        </p:nvSpPr>
        <p:spPr>
          <a:xfrm>
            <a:off x="365760" y="1170432"/>
            <a:ext cx="2651760" cy="315468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24"/>
          <p:cNvSpPr/>
          <p:nvPr/>
        </p:nvSpPr>
        <p:spPr>
          <a:xfrm>
            <a:off x="365760" y="1170432"/>
            <a:ext cx="2651760" cy="5486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4"/>
          <p:cNvSpPr/>
          <p:nvPr/>
        </p:nvSpPr>
        <p:spPr>
          <a:xfrm>
            <a:off x="457200" y="117043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浸潤班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4"/>
          <p:cNvSpPr/>
          <p:nvPr/>
        </p:nvSpPr>
        <p:spPr>
          <a:xfrm>
            <a:off x="457200" y="187452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約 $46,200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4"/>
          <p:cNvSpPr/>
          <p:nvPr/>
        </p:nvSpPr>
        <p:spPr>
          <a:xfrm>
            <a:off x="457200" y="26974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每週 10 小時 · 首次繳費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3200400" y="1170432"/>
            <a:ext cx="2651760" cy="3154680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24"/>
          <p:cNvSpPr/>
          <p:nvPr/>
        </p:nvSpPr>
        <p:spPr>
          <a:xfrm>
            <a:off x="3200400" y="1170432"/>
            <a:ext cx="26517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24"/>
          <p:cNvSpPr/>
          <p:nvPr/>
        </p:nvSpPr>
        <p:spPr>
          <a:xfrm>
            <a:off x="3291840" y="117043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菁英班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4"/>
          <p:cNvSpPr/>
          <p:nvPr/>
        </p:nvSpPr>
        <p:spPr>
          <a:xfrm>
            <a:off x="3291840" y="187452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約 $49,300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3291840" y="26974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每週 8 小時 · 首次繳費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4"/>
          <p:cNvSpPr/>
          <p:nvPr/>
        </p:nvSpPr>
        <p:spPr>
          <a:xfrm>
            <a:off x="6035040" y="1170432"/>
            <a:ext cx="2651760" cy="3154680"/>
          </a:xfrm>
          <a:prstGeom prst="rect">
            <a:avLst/>
          </a:prstGeom>
          <a:solidFill>
            <a:srgbClr val="DCFCE7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24"/>
          <p:cNvSpPr/>
          <p:nvPr/>
        </p:nvSpPr>
        <p:spPr>
          <a:xfrm>
            <a:off x="6035040" y="1170432"/>
            <a:ext cx="2651760" cy="5486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24"/>
          <p:cNvSpPr/>
          <p:nvPr/>
        </p:nvSpPr>
        <p:spPr>
          <a:xfrm>
            <a:off x="6126480" y="117043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菁英班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4"/>
          <p:cNvSpPr/>
          <p:nvPr/>
        </p:nvSpPr>
        <p:spPr>
          <a:xfrm>
            <a:off x="6126480" y="187452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約 $46,200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4"/>
          <p:cNvSpPr/>
          <p:nvPr/>
        </p:nvSpPr>
        <p:spPr>
          <a:xfrm>
            <a:off x="6126480" y="26974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每週 7.5 小時 · 首次繳費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4"/>
          <p:cNvSpPr/>
          <p:nvPr/>
        </p:nvSpPr>
        <p:spPr>
          <a:xfrm>
            <a:off x="365760" y="425196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DF3EA"/>
          </a:solidFill>
          <a:ln w="12700" cap="flat" cmpd="sng">
            <a:solidFill>
              <a:srgbClr val="E88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24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以上為估算金額，實際費用依入班時間及班型調整，請洽現場工作人員確認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4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4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25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0" name="不含註記-1"/>
          <p:cNvSpPr/>
          <p:nvPr/>
        </p:nvSpPr>
        <p:spPr>
          <a:xfrm>
            <a:off x="457200" y="34290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935" b="0" i="0" u="none" strike="noStrike" cap="none">
                <a:latin typeface="Calibri"/>
                <a:ea typeface="Calibri"/>
                <a:cs typeface="Calibri"/>
                <a:sym typeface="Calibri"/>
                <a:solidFill>
                  <a:srgbClr val="6B7280"/>
                </a:solidFill>
              </a:rPr>
              <a:t>不含月費、教材費、劍橋教材費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1" name="不含註記-2"/>
          <p:cNvSpPr/>
          <p:nvPr/>
        </p:nvSpPr>
        <p:spPr>
          <a:xfrm>
            <a:off x="3291840" y="34290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935" b="0" i="0" u="none" strike="noStrike" cap="none">
                <a:latin typeface="Calibri"/>
                <a:ea typeface="Calibri"/>
                <a:cs typeface="Calibri"/>
                <a:sym typeface="Calibri"/>
                <a:solidFill>
                  <a:srgbClr val="6B7280"/>
                </a:solidFill>
              </a:rPr>
              <a:t>不含教材費、劍橋教材費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2" name="不含註記-3"/>
          <p:cNvSpPr/>
          <p:nvPr/>
        </p:nvSpPr>
        <p:spPr>
          <a:xfrm>
            <a:off x="6126480" y="34290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935" b="0" i="0" u="none" strike="noStrike" cap="none">
                <a:latin typeface="Calibri"/>
                <a:ea typeface="Calibri"/>
                <a:cs typeface="Calibri"/>
                <a:sym typeface="Calibri"/>
                <a:solidFill>
                  <a:srgbClr val="6B7280"/>
                </a:solidFill>
              </a:rPr>
              <a:t>不含教材費、劍橋教材費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25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含安親課輔的費用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5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英文課 + 安親課輔 首次繳費試算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5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25"/>
          <p:cNvSpPr/>
          <p:nvPr/>
        </p:nvSpPr>
        <p:spPr>
          <a:xfrm>
            <a:off x="365760" y="1188720"/>
            <a:ext cx="8412480" cy="1078992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25"/>
          <p:cNvSpPr/>
          <p:nvPr/>
        </p:nvSpPr>
        <p:spPr>
          <a:xfrm>
            <a:off x="365760" y="1188720"/>
            <a:ext cx="109728" cy="107899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25"/>
          <p:cNvSpPr/>
          <p:nvPr/>
        </p:nvSpPr>
        <p:spPr>
          <a:xfrm>
            <a:off x="594360" y="132588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浸潤班 + 安親課輔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5"/>
          <p:cNvSpPr/>
          <p:nvPr/>
        </p:nvSpPr>
        <p:spPr>
          <a:xfrm>
            <a:off x="594360" y="178308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英文課 ~$46,200 + 安親 $24,000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5"/>
          <p:cNvSpPr/>
          <p:nvPr/>
        </p:nvSpPr>
        <p:spPr>
          <a:xfrm>
            <a:off x="6217920" y="1188720"/>
            <a:ext cx="24688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約 $70,200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5"/>
          <p:cNvSpPr/>
          <p:nvPr/>
        </p:nvSpPr>
        <p:spPr>
          <a:xfrm>
            <a:off x="365760" y="2359152"/>
            <a:ext cx="8412480" cy="1078992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25"/>
          <p:cNvSpPr/>
          <p:nvPr/>
        </p:nvSpPr>
        <p:spPr>
          <a:xfrm>
            <a:off x="365760" y="2359152"/>
            <a:ext cx="109728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5"/>
          <p:cNvSpPr/>
          <p:nvPr/>
        </p:nvSpPr>
        <p:spPr>
          <a:xfrm>
            <a:off x="594360" y="2496312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菁英班 + 安親課輔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5"/>
          <p:cNvSpPr/>
          <p:nvPr/>
        </p:nvSpPr>
        <p:spPr>
          <a:xfrm>
            <a:off x="594360" y="295351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英文課 ~$49,300 + 安親 $24,000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5"/>
          <p:cNvSpPr/>
          <p:nvPr/>
        </p:nvSpPr>
        <p:spPr>
          <a:xfrm>
            <a:off x="6217920" y="2359152"/>
            <a:ext cx="24688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約 $73,300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5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EBF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25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安親課輔每學期 $24,000，包含全科輔導及弱點追蹤分析（浸潤班另有月費；班型費用不含教材費與劍橋教材費）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5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5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26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26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含托育班的費用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6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英文課 + 托育班 首次繳費試算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6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6"/>
          <p:cNvSpPr/>
          <p:nvPr/>
        </p:nvSpPr>
        <p:spPr>
          <a:xfrm>
            <a:off x="365760" y="1188720"/>
            <a:ext cx="8412480" cy="1078992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26"/>
          <p:cNvSpPr/>
          <p:nvPr/>
        </p:nvSpPr>
        <p:spPr>
          <a:xfrm>
            <a:off x="365760" y="1188720"/>
            <a:ext cx="109728" cy="1078992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6"/>
          <p:cNvSpPr/>
          <p:nvPr/>
        </p:nvSpPr>
        <p:spPr>
          <a:xfrm>
            <a:off x="594360" y="132588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浸潤班 + 托育班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6"/>
          <p:cNvSpPr/>
          <p:nvPr/>
        </p:nvSpPr>
        <p:spPr>
          <a:xfrm>
            <a:off x="594360" y="178308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英文課 ~$46,200 + 托育 $12,500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6"/>
          <p:cNvSpPr/>
          <p:nvPr/>
        </p:nvSpPr>
        <p:spPr>
          <a:xfrm>
            <a:off x="6217920" y="1188720"/>
            <a:ext cx="24688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約 $58,700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6"/>
          <p:cNvSpPr/>
          <p:nvPr/>
        </p:nvSpPr>
        <p:spPr>
          <a:xfrm>
            <a:off x="365760" y="2359152"/>
            <a:ext cx="8412480" cy="1078992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6"/>
          <p:cNvSpPr/>
          <p:nvPr/>
        </p:nvSpPr>
        <p:spPr>
          <a:xfrm>
            <a:off x="365760" y="2359152"/>
            <a:ext cx="109728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6"/>
          <p:cNvSpPr/>
          <p:nvPr/>
        </p:nvSpPr>
        <p:spPr>
          <a:xfrm>
            <a:off x="594360" y="2496312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菁英班 + 托育班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6"/>
          <p:cNvSpPr/>
          <p:nvPr/>
        </p:nvSpPr>
        <p:spPr>
          <a:xfrm>
            <a:off x="594360" y="295351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英文課 ~$49,300 + 托育 $12,500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6"/>
          <p:cNvSpPr/>
          <p:nvPr/>
        </p:nvSpPr>
        <p:spPr>
          <a:xfrm>
            <a:off x="6217920" y="2359152"/>
            <a:ext cx="24688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約 $61,800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6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EBF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6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托育班每學期 $12,500，比安親課輔省 $11,500，適合能自主完成功課的孩子（浸潤班另有月費；班型費用不含教材費與劍橋教材費）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6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6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27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7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新生好禮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7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報名就送！入學即享好禮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7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04" name="Google Shape;904;p27"/>
          <p:cNvGraphicFramePr/>
          <p:nvPr/>
        </p:nvGraphicFramePr>
        <p:xfrm>
          <a:off x="365760" y="1143000"/>
          <a:ext cx="8412500" cy="2852900"/>
        </p:xfrm>
        <a:graphic>
          <a:graphicData uri="http://schemas.openxmlformats.org/drawingml/2006/table">
            <a:tbl>
              <a:tblPr>
                <a:noFill/>
                <a:tableStyleId>{16E20876-95DE-4AE8-BAA1-F57D970CE4F3}</a:tableStyleId>
              </a:tblPr>
              <a:tblGrid>
                <a:gridCol w="16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班型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入學點數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劍橋檢定折抵/學期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點心贈送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贈送價值合計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21B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5B21B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浸潤班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5,000點 = $400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$5,000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$800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63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E886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$6,200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菁英班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3,000點 = $240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$3,500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$800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63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E886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$4,540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5" name="Google Shape;905;p27"/>
          <p:cNvSpPr/>
          <p:nvPr/>
        </p:nvSpPr>
        <p:spPr>
          <a:xfrm>
            <a:off x="365760" y="42062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2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今天報名，新生好禮馬上帶回家！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7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7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28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2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28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全民英檢費用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8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初級 &amp; 中級詳細費用一覽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8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18" name="Google Shape;918;p28"/>
          <p:cNvGraphicFramePr/>
          <p:nvPr/>
        </p:nvGraphicFramePr>
        <p:xfrm>
          <a:off x="365760" y="1143000"/>
          <a:ext cx="8412475" cy="2852900"/>
        </p:xfrm>
        <a:graphic>
          <a:graphicData uri="http://schemas.openxmlformats.org/drawingml/2006/table">
            <a:tbl>
              <a:tblPr>
                <a:noFill/>
                <a:tableStyleId>{16E20876-95DE-4AE8-BAA1-F57D970CE4F3}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報名方式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初級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中級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21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單報初試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$23,300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21B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5B21B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$27,360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單報複試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$17,700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21B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5B21B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$27,360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同報初複試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86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6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886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$39,200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6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886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（教材$900另計）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6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886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$51,840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63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886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（教材$3,640另計）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63500" marB="635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9" name="Google Shape;919;p28"/>
          <p:cNvSpPr/>
          <p:nvPr/>
        </p:nvSpPr>
        <p:spPr>
          <a:xfrm>
            <a:off x="365760" y="42062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早鳥優惠：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8"/>
          <p:cNvSpPr/>
          <p:nvPr/>
        </p:nvSpPr>
        <p:spPr>
          <a:xfrm>
            <a:off x="1554480" y="416052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同報初複試 → 4月份報名享 9折 / 5月份享 95折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8"/>
          <p:cNvSpPr/>
          <p:nvPr/>
        </p:nvSpPr>
        <p:spPr>
          <a:xfrm>
            <a:off x="1554480" y="4507992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單報 → 4月份 95折 / 5月份原價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8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8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29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29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報名三步驟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9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現在開始，讓孩子的英文超能力起飛！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9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9"/>
          <p:cNvSpPr/>
          <p:nvPr/>
        </p:nvSpPr>
        <p:spPr>
          <a:xfrm>
            <a:off x="365760" y="1170432"/>
            <a:ext cx="265176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29"/>
          <p:cNvSpPr/>
          <p:nvPr/>
        </p:nvSpPr>
        <p:spPr>
          <a:xfrm>
            <a:off x="365760" y="1170432"/>
            <a:ext cx="2651760" cy="109728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29"/>
          <p:cNvSpPr/>
          <p:nvPr/>
        </p:nvSpPr>
        <p:spPr>
          <a:xfrm>
            <a:off x="1371600" y="135331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29"/>
          <p:cNvSpPr/>
          <p:nvPr/>
        </p:nvSpPr>
        <p:spPr>
          <a:xfrm>
            <a:off x="1371600" y="13533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9"/>
          <p:cNvSpPr/>
          <p:nvPr/>
        </p:nvSpPr>
        <p:spPr>
          <a:xfrm>
            <a:off x="502920" y="2084832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英語程度檢測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9"/>
          <p:cNvSpPr/>
          <p:nvPr/>
        </p:nvSpPr>
        <p:spPr>
          <a:xfrm>
            <a:off x="502920" y="2816352"/>
            <a:ext cx="23774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線上或到校預約</a:t>
            </a:r>
            <a:r>
              <a:rPr lang="en-US" sz="12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，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由外師進行評估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NT$400（可折抵註冊費），50分鐘搞定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 err="1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台灣全民英檢初試或口語測驗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9"/>
          <p:cNvSpPr/>
          <p:nvPr/>
        </p:nvSpPr>
        <p:spPr>
          <a:xfrm>
            <a:off x="502920" y="3931920"/>
            <a:ext cx="2377440" cy="502920"/>
          </a:xfrm>
          <a:prstGeom prst="rect">
            <a:avLst/>
          </a:prstGeom>
          <a:solidFill>
            <a:srgbClr val="FD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9"/>
          <p:cNvSpPr/>
          <p:nvPr/>
        </p:nvSpPr>
        <p:spPr>
          <a:xfrm>
            <a:off x="502920" y="39319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立即註冊：taipingxinguang.org/#register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9"/>
          <p:cNvSpPr/>
          <p:nvPr/>
        </p:nvSpPr>
        <p:spPr>
          <a:xfrm>
            <a:off x="3200400" y="1170432"/>
            <a:ext cx="265176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29"/>
          <p:cNvSpPr/>
          <p:nvPr/>
        </p:nvSpPr>
        <p:spPr>
          <a:xfrm>
            <a:off x="3200400" y="1170432"/>
            <a:ext cx="2651760" cy="109728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29"/>
          <p:cNvSpPr/>
          <p:nvPr/>
        </p:nvSpPr>
        <p:spPr>
          <a:xfrm>
            <a:off x="4206240" y="135331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29"/>
          <p:cNvSpPr/>
          <p:nvPr/>
        </p:nvSpPr>
        <p:spPr>
          <a:xfrm>
            <a:off x="4206240" y="13533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9"/>
          <p:cNvSpPr/>
          <p:nvPr/>
        </p:nvSpPr>
        <p:spPr>
          <a:xfrm>
            <a:off x="3337560" y="2084832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專業班型推薦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9"/>
          <p:cNvSpPr/>
          <p:nvPr/>
        </p:nvSpPr>
        <p:spPr>
          <a:xfrm>
            <a:off x="3337560" y="2816352"/>
            <a:ext cx="23774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根據檢測結果，老師親自說明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最適合孩子的班型與路徑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針對學習目標量身規劃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9"/>
          <p:cNvSpPr/>
          <p:nvPr/>
        </p:nvSpPr>
        <p:spPr>
          <a:xfrm>
            <a:off x="3337560" y="3931920"/>
            <a:ext cx="2377440" cy="502920"/>
          </a:xfrm>
          <a:prstGeom prst="rect">
            <a:avLst/>
          </a:prstGeom>
          <a:solidFill>
            <a:srgbClr val="FD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29"/>
          <p:cNvSpPr/>
          <p:nvPr/>
        </p:nvSpPr>
        <p:spPr>
          <a:xfrm>
            <a:off x="3337560" y="39319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我們的老師會詳細解說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9"/>
          <p:cNvSpPr/>
          <p:nvPr/>
        </p:nvSpPr>
        <p:spPr>
          <a:xfrm>
            <a:off x="6035040" y="1170432"/>
            <a:ext cx="265176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29"/>
          <p:cNvSpPr/>
          <p:nvPr/>
        </p:nvSpPr>
        <p:spPr>
          <a:xfrm>
            <a:off x="6035040" y="1170432"/>
            <a:ext cx="2651760" cy="109728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29"/>
          <p:cNvSpPr/>
          <p:nvPr/>
        </p:nvSpPr>
        <p:spPr>
          <a:xfrm>
            <a:off x="7040880" y="135331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29"/>
          <p:cNvSpPr/>
          <p:nvPr/>
        </p:nvSpPr>
        <p:spPr>
          <a:xfrm>
            <a:off x="7040880" y="13533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9"/>
          <p:cNvSpPr/>
          <p:nvPr/>
        </p:nvSpPr>
        <p:spPr>
          <a:xfrm>
            <a:off x="6172200" y="2084832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現場報名享說明會限定優惠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9"/>
          <p:cNvSpPr/>
          <p:nvPr/>
        </p:nvSpPr>
        <p:spPr>
          <a:xfrm>
            <a:off x="6172200" y="2816352"/>
            <a:ext cx="23774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今天說明會現場報名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享有限定折扣及優先排班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把握機會，好位子不多！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9"/>
          <p:cNvSpPr/>
          <p:nvPr/>
        </p:nvSpPr>
        <p:spPr>
          <a:xfrm>
            <a:off x="6172200" y="3931920"/>
            <a:ext cx="2377440" cy="502920"/>
          </a:xfrm>
          <a:prstGeom prst="rect">
            <a:avLst/>
          </a:prstGeom>
          <a:solidFill>
            <a:srgbClr val="FD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29"/>
          <p:cNvSpPr/>
          <p:nvPr/>
        </p:nvSpPr>
        <p:spPr>
          <a:xfrm>
            <a:off x="6172200" y="39319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說明會限定！名額有限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9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9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30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30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聯繫我們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0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任何問題，隨時歡迎來找我們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0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30"/>
          <p:cNvSpPr/>
          <p:nvPr/>
        </p:nvSpPr>
        <p:spPr>
          <a:xfrm>
            <a:off x="365760" y="1170432"/>
            <a:ext cx="530352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30"/>
          <p:cNvSpPr/>
          <p:nvPr/>
        </p:nvSpPr>
        <p:spPr>
          <a:xfrm>
            <a:off x="365760" y="1170432"/>
            <a:ext cx="5303520" cy="6217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0"/>
          <p:cNvSpPr/>
          <p:nvPr/>
        </p:nvSpPr>
        <p:spPr>
          <a:xfrm>
            <a:off x="502920" y="1207008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地址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0"/>
          <p:cNvSpPr/>
          <p:nvPr/>
        </p:nvSpPr>
        <p:spPr>
          <a:xfrm>
            <a:off x="1645920" y="120700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台中市太平區新福路880號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0"/>
          <p:cNvSpPr/>
          <p:nvPr/>
        </p:nvSpPr>
        <p:spPr>
          <a:xfrm>
            <a:off x="365760" y="1828800"/>
            <a:ext cx="530352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30"/>
          <p:cNvSpPr/>
          <p:nvPr/>
        </p:nvSpPr>
        <p:spPr>
          <a:xfrm>
            <a:off x="502920" y="1865376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電話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0"/>
          <p:cNvSpPr/>
          <p:nvPr/>
        </p:nvSpPr>
        <p:spPr>
          <a:xfrm>
            <a:off x="1645920" y="186537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04-23960585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0"/>
          <p:cNvSpPr/>
          <p:nvPr/>
        </p:nvSpPr>
        <p:spPr>
          <a:xfrm>
            <a:off x="365760" y="2487168"/>
            <a:ext cx="5303520" cy="6217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0"/>
          <p:cNvSpPr/>
          <p:nvPr/>
        </p:nvSpPr>
        <p:spPr>
          <a:xfrm>
            <a:off x="502920" y="2523744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0"/>
          <p:cNvSpPr/>
          <p:nvPr/>
        </p:nvSpPr>
        <p:spPr>
          <a:xfrm>
            <a:off x="1645920" y="2523744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@143qbory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0"/>
          <p:cNvSpPr/>
          <p:nvPr/>
        </p:nvSpPr>
        <p:spPr>
          <a:xfrm>
            <a:off x="365760" y="3145536"/>
            <a:ext cx="530352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0"/>
          <p:cNvSpPr/>
          <p:nvPr/>
        </p:nvSpPr>
        <p:spPr>
          <a:xfrm>
            <a:off x="502920" y="3182112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0"/>
          <p:cNvSpPr/>
          <p:nvPr/>
        </p:nvSpPr>
        <p:spPr>
          <a:xfrm>
            <a:off x="1645920" y="318211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@eagle__xinguang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0"/>
          <p:cNvSpPr/>
          <p:nvPr/>
        </p:nvSpPr>
        <p:spPr>
          <a:xfrm>
            <a:off x="365760" y="3803904"/>
            <a:ext cx="5303520" cy="62179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30"/>
          <p:cNvSpPr/>
          <p:nvPr/>
        </p:nvSpPr>
        <p:spPr>
          <a:xfrm>
            <a:off x="502920" y="384048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網站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0"/>
          <p:cNvSpPr/>
          <p:nvPr/>
        </p:nvSpPr>
        <p:spPr>
          <a:xfrm>
            <a:off x="1645920" y="38404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taipingxinguang.org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0"/>
          <p:cNvSpPr/>
          <p:nvPr/>
        </p:nvSpPr>
        <p:spPr>
          <a:xfrm>
            <a:off x="5852160" y="1170432"/>
            <a:ext cx="2926080" cy="3383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30"/>
          <p:cNvSpPr/>
          <p:nvPr/>
        </p:nvSpPr>
        <p:spPr>
          <a:xfrm>
            <a:off x="6217920" y="1417320"/>
            <a:ext cx="21945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7" name="LINE QR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2194560" cy="2194560"/>
          </a:xfrm>
          <a:prstGeom prst="rect">
            <a:avLst/>
          </a:prstGeom>
        </p:spPr>
      </p:pic>
      <p:sp>
        <p:nvSpPr>
          <p:cNvPr id="987" name="Google Shape;987;p30"/>
          <p:cNvSpPr/>
          <p:nvPr/>
        </p:nvSpPr>
        <p:spPr>
          <a:xfrm>
            <a:off x="5852160" y="3703320"/>
            <a:ext cx="29260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掃碼加 LINE 好友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馬上預約免費檢測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0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太平新光分校  |  04-23960585  |  taipingxinguang.org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0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31 / 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3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3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感謝您撥出寶貴時間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1"/>
          <p:cNvSpPr/>
          <p:nvPr/>
        </p:nvSpPr>
        <p:spPr>
          <a:xfrm>
            <a:off x="3200400" y="1234440"/>
            <a:ext cx="2743200" cy="45720"/>
          </a:xfrm>
          <a:prstGeom prst="rect">
            <a:avLst/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3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63A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E8863A"/>
                </a:solidFill>
                <a:latin typeface="Calibri"/>
                <a:ea typeface="Calibri"/>
                <a:cs typeface="Calibri"/>
                <a:sym typeface="Calibri"/>
              </a:rPr>
              <a:t>讓我們一起為孩子的英文超能力加油！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1"/>
          <p:cNvSpPr/>
          <p:nvPr/>
        </p:nvSpPr>
        <p:spPr>
          <a:xfrm>
            <a:off x="2286000" y="224028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E88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31"/>
          <p:cNvSpPr/>
          <p:nvPr/>
        </p:nvSpPr>
        <p:spPr>
          <a:xfrm>
            <a:off x="2286000" y="224028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 時間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1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歡迎提問，工作人員也在現場為您服務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1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C8D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8C8D8"/>
                </a:solidFill>
                <a:latin typeface="Calibri"/>
                <a:ea typeface="Calibri"/>
                <a:cs typeface="Calibri"/>
                <a:sym typeface="Calibri"/>
              </a:rPr>
              <a:t>04-23960585  ｜  @143qbory  ｜  taipingxinguang.org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9FB5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latin typeface="Calibri"/>
                <a:ea typeface="Calibri"/>
                <a:cs typeface="Calibri"/>
                <a:sym typeface="Calibri"/>
                <a:hlinkClick r:id="rId4"/>
                <a:solidFill>
                  <a:srgbClr val="E8863A"/>
                </a:solidFill>
              </a:rPr>
              <a:t>🎯 立即註冊：taipingxinguang.org/#register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9" name="LINE QR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1280160" cy="1280160"/>
          </a:xfrm>
          <a:prstGeom prst="rect">
            <a:avLst/>
          </a:prstGeom>
        </p:spPr>
      </p:pic>
      <p:pic>
        <p:nvPicPr>
          <p:cNvPr id="998" name="LINE QR Code 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286000"/>
            <a:ext cx="1280160" cy="1280160"/>
          </a:xfrm>
          <a:prstGeom prst="rect">
            <a:avLst/>
          </a:prstGeom>
        </p:spPr>
      </p:pic>
      <p:sp>
        <p:nvSpPr>
          <p:cNvPr id="2000" name="qr-label-0"/>
          <p:cNvSpPr/>
          <p:nvPr/>
        </p:nvSpPr>
        <p:spPr>
          <a:xfrm>
            <a:off x="640080" y="3611880"/>
            <a:ext cx="1463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zh-TW" sz="1100" b="1">
                <a:solidFill>
                  <a:srgbClr val="E8863A"/>
                </a:solidFill>
                <a:latin typeface="Calibri"/>
              </a:rPr>
              <a:t>掃碼加 LINE 好友</a:t>
            </a:r>
          </a:p>
        </p:txBody>
      </p:sp>
      <p:sp>
        <p:nvSpPr>
          <p:cNvPr id="2001" name="qr-label-1"/>
          <p:cNvSpPr/>
          <p:nvPr/>
        </p:nvSpPr>
        <p:spPr>
          <a:xfrm>
            <a:off x="7040880" y="3611880"/>
            <a:ext cx="1463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zh-TW" sz="1100" b="1">
                <a:solidFill>
                  <a:srgbClr val="E8863A"/>
                </a:solidFill>
                <a:latin typeface="Calibri"/>
              </a:rPr>
              <a:t>掃碼加 LINE 好友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太平新光分校  |  04-23960585  |  taipingxinguang.org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教材用書・分科目螺旋式教學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聽、說、讀、寫、字彙、文法，每一科都有專屬教材陪孩子長大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152144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243457"/>
          </a:solidFill>
          <a:ln w="12700">
            <a:solidFill>
              <a:srgbClr val="2434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52144"/>
            <a:ext cx="64008" cy="1005840"/>
          </a:xfrm>
          <a:prstGeom prst="roundRect">
            <a:avLst>
              <a:gd name="adj" fmla="val 57143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07592"/>
            <a:ext cx="384048" cy="384048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07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1188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閱讀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146304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 → G3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16550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Dimensions Reading + Reading Plus (L1-5)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" y="18653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從圖片故事到小說段落，逐級加深理解力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1728" y="1152144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243457"/>
          </a:solidFill>
          <a:ln w="12700">
            <a:solidFill>
              <a:srgbClr val="2434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1152144"/>
            <a:ext cx="64008" cy="1005840"/>
          </a:xfrm>
          <a:prstGeom prst="roundRect">
            <a:avLst>
              <a:gd name="adj" fmla="val 57143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1456" y="1307592"/>
            <a:ext cx="384048" cy="38404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1307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0368" y="1188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寫作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146304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 → G3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30368" y="16550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Dimensions Writing + Write Right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30368" y="18653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從看圖寫一句，到寫出有起承轉合的故事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2231136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243457"/>
          </a:solidFill>
          <a:ln w="12700">
            <a:solidFill>
              <a:srgbClr val="2434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231136"/>
            <a:ext cx="64008" cy="1005840"/>
          </a:xfrm>
          <a:prstGeom prst="roundRect">
            <a:avLst>
              <a:gd name="adj" fmla="val 57143"/>
            </a:avLst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386584"/>
            <a:ext cx="384048" cy="384048"/>
          </a:xfrm>
          <a:prstGeom prst="ellipse">
            <a:avLst/>
          </a:prstGeom>
          <a:solidFill>
            <a:srgbClr val="2B7A4B"/>
          </a:solidFill>
          <a:ln w="12700">
            <a:solidFill>
              <a:srgbClr val="2B7A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2267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Phonics 自然發音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6112" y="254203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 → G3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" y="27340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Dimensions Phonics (L1-5)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6112" y="29443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看到新字就能唸出來，不靠死記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81728" y="2231136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243457"/>
          </a:solidFill>
          <a:ln w="12700">
            <a:solidFill>
              <a:srgbClr val="2434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2231136"/>
            <a:ext cx="64008" cy="1005840"/>
          </a:xfrm>
          <a:prstGeom prst="roundRect">
            <a:avLst>
              <a:gd name="adj" fmla="val 5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91456" y="238658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0368" y="2267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字彙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30368" y="254203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 → G3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0368" y="27340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Dimensions Sight Words + Spelling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30368" y="29443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100 個字到 2000 個字，螺旋式擴充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" y="3310128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243457"/>
          </a:solidFill>
          <a:ln w="12700">
            <a:solidFill>
              <a:srgbClr val="2434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3310128"/>
            <a:ext cx="64008" cy="1005840"/>
          </a:xfrm>
          <a:prstGeom prst="roundRect">
            <a:avLst>
              <a:gd name="adj" fmla="val 57143"/>
            </a:avLst>
          </a:prstGeom>
          <a:solidFill>
            <a:srgbClr val="C9A22D"/>
          </a:solidFill>
          <a:ln w="12700">
            <a:solidFill>
              <a:srgbClr val="C9A2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465576"/>
            <a:ext cx="384048" cy="384048"/>
          </a:xfrm>
          <a:prstGeom prst="ellipse">
            <a:avLst/>
          </a:prstGeom>
          <a:solidFill>
            <a:srgbClr val="C9A22D"/>
          </a:solidFill>
          <a:ln w="12700">
            <a:solidFill>
              <a:srgbClr val="C9A2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96112" y="33467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口說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96112" y="362102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 → G3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96112" y="3813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Talk + Easy Speaking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96112" y="40233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每週開口說，不是只會寫不會講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81728" y="3310128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243457"/>
          </a:solidFill>
          <a:ln w="12700">
            <a:solidFill>
              <a:srgbClr val="24345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1728" y="3310128"/>
            <a:ext cx="64008" cy="1005840"/>
          </a:xfrm>
          <a:prstGeom prst="roundRect">
            <a:avLst>
              <a:gd name="adj" fmla="val 57143"/>
            </a:avLst>
          </a:prstGeom>
          <a:solidFill>
            <a:srgbClr val="D64E3B"/>
          </a:solidFill>
          <a:ln w="12700">
            <a:solidFill>
              <a:srgbClr val="D64E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91456" y="3465576"/>
            <a:ext cx="384048" cy="384048"/>
          </a:xfrm>
          <a:prstGeom prst="ellipse">
            <a:avLst/>
          </a:prstGeom>
          <a:solidFill>
            <a:srgbClr val="D64E3B"/>
          </a:solidFill>
          <a:ln w="12700">
            <a:solidFill>
              <a:srgbClr val="D64E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30368" y="33467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文法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230368" y="362102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 → G3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30368" y="3813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Next Grammar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230368" y="40233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生活情境帶文法，不是死背規則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7472" y="4453128"/>
            <a:ext cx="8449056" cy="384048"/>
          </a:xfrm>
          <a:prstGeom prst="roundRect">
            <a:avLst>
              <a:gd name="adj" fmla="val 14286"/>
            </a:avLst>
          </a:prstGeom>
          <a:solidFill>
            <a:srgbClr val="1E3A6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453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每一科都從 GK 開始接觸，到 G3 螺旋式深化 — 不是一下子教完，而是每年回頭強化再擴充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太平新光分校  |  04-23960585  |  taipingxinguang.org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920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螺旋式教學・同一個技能，每年都在升級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以「閱讀」為例，看孩子從 GK 到 G3 怎麼一步步長大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 閱讀進程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640080" cy="246888"/>
          </a:xfrm>
          <a:prstGeom prst="rect">
            <a:avLst/>
          </a:prstGeom>
          <a:solidFill>
            <a:srgbClr val="E8863A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71600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級數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1371600"/>
            <a:ext cx="2377440" cy="246888"/>
          </a:xfrm>
          <a:prstGeom prst="rect">
            <a:avLst/>
          </a:prstGeom>
          <a:solidFill>
            <a:srgbClr val="E8863A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37160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560320" cy="246888"/>
          </a:xfrm>
          <a:prstGeom prst="rect">
            <a:avLst/>
          </a:prstGeom>
          <a:solidFill>
            <a:srgbClr val="E8863A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37160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能做什麼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2560320" cy="246888"/>
          </a:xfrm>
          <a:prstGeom prst="rect">
            <a:avLst/>
          </a:prstGeom>
          <a:solidFill>
            <a:srgbClr val="E8863A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37160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618488"/>
            <a:ext cx="64008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618488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1618488"/>
            <a:ext cx="237744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161848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+ Phonics 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1618488"/>
            <a:ext cx="256032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61848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認讀 300 字、看圖讀單字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1618488"/>
            <a:ext cx="256032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161848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指著圖說出 5 個字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1865376"/>
            <a:ext cx="64008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865376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05840" y="1865376"/>
            <a:ext cx="237744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186537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+ Reading Plus 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1865376"/>
            <a:ext cx="256032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186537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3-5 句短文抓重點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0" y="1865376"/>
            <a:ext cx="256032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86537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讀完短故事回答 yes/no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2112264"/>
            <a:ext cx="64008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112264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05840" y="2112264"/>
            <a:ext cx="237744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211226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+ Reading Plus 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83280" y="2112264"/>
            <a:ext cx="256032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211226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100 字文章做推論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0" y="2112264"/>
            <a:ext cx="256032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11226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推論人物感受、因果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2359152"/>
            <a:ext cx="64008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2359152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05840" y="2359152"/>
            <a:ext cx="237744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1560" y="235915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4-5 + Write Right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83280" y="2359152"/>
            <a:ext cx="256032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235915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200 字真實文章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43600" y="2359152"/>
            <a:ext cx="256032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89320" y="235915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讀菜單/廣告/email 做決定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5760" y="269748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 寫作進程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2944368"/>
            <a:ext cx="640080" cy="246888"/>
          </a:xfrm>
          <a:prstGeom prst="rect">
            <a:avLst/>
          </a:prstGeom>
          <a:solidFill>
            <a:srgbClr val="147AA8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2944368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級數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005840" y="2944368"/>
            <a:ext cx="2377440" cy="246888"/>
          </a:xfrm>
          <a:prstGeom prst="rect">
            <a:avLst/>
          </a:prstGeom>
          <a:solidFill>
            <a:srgbClr val="147AA8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1560" y="294436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教材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383280" y="2944368"/>
            <a:ext cx="2560320" cy="246888"/>
          </a:xfrm>
          <a:prstGeom prst="rect">
            <a:avLst/>
          </a:prstGeom>
          <a:solidFill>
            <a:srgbClr val="147AA8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29000" y="294436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能做什麼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943600" y="2944368"/>
            <a:ext cx="2560320" cy="246888"/>
          </a:xfrm>
          <a:prstGeom prst="rect">
            <a:avLst/>
          </a:prstGeom>
          <a:solidFill>
            <a:srgbClr val="147AA8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9320" y="294436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65760" y="3191256"/>
            <a:ext cx="64008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3191256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05840" y="3191256"/>
            <a:ext cx="237744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319125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383280" y="3191256"/>
            <a:ext cx="256032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29000" y="319125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抄寫 + 單字填空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943600" y="3191256"/>
            <a:ext cx="256032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89320" y="319125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寫出 10 個字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65760" y="3438144"/>
            <a:ext cx="64008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3438144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005840" y="3438144"/>
            <a:ext cx="237744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51560" y="343814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383280" y="3438144"/>
            <a:ext cx="256032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29000" y="343814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看圖寫 1-2 句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943600" y="3438144"/>
            <a:ext cx="256032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89320" y="343814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短描述：I can see...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65760" y="3685032"/>
            <a:ext cx="64008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3685032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005840" y="3685032"/>
            <a:ext cx="237744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51560" y="368503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383280" y="3685032"/>
            <a:ext cx="256032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29000" y="368503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35 字短段落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943600" y="3685032"/>
            <a:ext cx="2560320" cy="246888"/>
          </a:xfrm>
          <a:prstGeom prst="rect">
            <a:avLst/>
          </a:prstGeom>
          <a:solidFill>
            <a:srgbClr val="1F3560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89320" y="368503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3 張圖寫故事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65760" y="3931920"/>
            <a:ext cx="64008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11480" y="3931920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1005840" y="3931920"/>
            <a:ext cx="237744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51560" y="3931920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4-5 + Write Right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383280" y="3931920"/>
            <a:ext cx="256032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29000" y="393192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寫完整文章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943600" y="3931920"/>
            <a:ext cx="2560320" cy="246888"/>
          </a:xfrm>
          <a:prstGeom prst="rect">
            <a:avLst/>
          </a:prstGeom>
          <a:solidFill>
            <a:srgbClr val="243457"/>
          </a:solidFill>
          <a:ln w="6350">
            <a:solidFill>
              <a:srgbClr val="2E4A7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989320" y="393192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email、寫觀點文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65760" y="4251960"/>
            <a:ext cx="8412480" cy="617220"/>
          </a:xfrm>
          <a:prstGeom prst="roundRect">
            <a:avLst>
              <a:gd name="adj" fmla="val 8889"/>
            </a:avLst>
          </a:prstGeom>
          <a:solidFill>
            <a:srgbClr val="3A1E05"/>
          </a:solidFill>
          <a:ln w="19050">
            <a:solidFill>
              <a:srgbClr val="E8863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2920" y="4251960"/>
            <a:ext cx="81381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螺旋式的意思是：同一個能力，每年都用更深的方式再教一次。不是「學過就跳過」，而是「學過要更深入」—— 這就是為什麼劍橋每個級數的閱讀寫作都能無縫升級。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1672</Words>
  <Application>Microsoft Office PowerPoint</Application>
  <PresentationFormat>如螢幕大小 (16:9)</PresentationFormat>
  <Paragraphs>625</Paragraphs>
  <Slides>30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miyu tang</cp:lastModifiedBy>
  <cp:revision>2</cp:revision>
  <dcterms:created xsi:type="dcterms:W3CDTF">2026-04-18T04:04:41Z</dcterms:created>
  <dcterms:modified xsi:type="dcterms:W3CDTF">2026-04-22T02:38:13Z</dcterms:modified>
</cp:coreProperties>
</file>